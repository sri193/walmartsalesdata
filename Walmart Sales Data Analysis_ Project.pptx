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image" Target="../media/image19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5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3366">
                  <a:alpha val="85000"/>
                </a:srgbClr>
              </a:gs>
              <a:gs pos="100000">
                <a:srgbClr val="003366">
                  <a:alpha val="85000"/>
                </a:srgbClr>
              </a:gs>
            </a:gsLst>
            <a:lin ang="162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704932" y="2266950"/>
            <a:ext cx="8781830" cy="1371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680"/>
              </a:lnSpc>
              <a:spcBef>
                <a:spcPts val="0"/>
              </a:spcBef>
              <a:spcAft>
                <a:spcPts val="1950"/>
              </a:spcAft>
            </a:pPr>
            <a:r>
              <a:rPr sz="3588" b="1">
                <a:solidFill>
                  <a:srgbClr val="FFFFFF"/>
                </a:solidFill>
              </a:rPr>
              <a:t>Walmart Sales Data Analysis:</a:t>
            </a:r>
            <a:r>
              <a:rPr sz="1104"/>
              <a:t>
</a:t>
            </a:r>
            <a:r>
              <a:rPr sz="3588" b="1">
                <a:solidFill>
                  <a:srgbClr val="FFC220"/>
                </a:solidFill>
              </a:rPr>
              <a:t>Project Overview and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4932" y="3924299"/>
            <a:ext cx="878183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600"/>
              </a:spcAft>
            </a:pPr>
            <a:r>
              <a:rPr sz="1435" b="0">
                <a:solidFill>
                  <a:srgbClr val="FFFFFF"/>
                </a:solidFill>
              </a:rPr>
              <a:t>Exploring sales trends, product performance, and customer behavior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6733" y="190499"/>
            <a:ext cx="10858228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143000"/>
            <a:ext cx="5238619" cy="1171575"/>
          </a:xfrm>
          <a:prstGeom prst="roundRect">
            <a:avLst>
              <a:gd name="adj" fmla="val 1300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04852" y="1381124"/>
            <a:ext cx="476238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0071CE"/>
                </a:solidFill>
              </a:rPr>
              <a:t> </a:t>
            </a:r>
            <a:r>
              <a:rPr sz="1104"/>
              <a:t>  </a:t>
            </a:r>
            <a:r>
              <a:rPr sz="1315" b="1">
                <a:solidFill>
                  <a:srgbClr val="0071CE"/>
                </a:solidFill>
              </a:rPr>
              <a:t> Dataset Source 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4852" y="1431607"/>
            <a:ext cx="228594" cy="1657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4852" y="1790700"/>
            <a:ext cx="4762380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Kaggle </a:t>
            </a:r>
            <a:r>
              <a:rPr sz="1196" b="1">
                <a:solidFill>
                  <a:srgbClr val="0071CE"/>
                </a:solidFill>
              </a:rPr>
              <a:t>Walmart Sales Forecasting Competition</a:t>
            </a:r>
            <a:r>
              <a:rPr sz="1196" b="0">
                <a:solidFill>
                  <a:srgbClr val="333333"/>
                </a:solidFill>
              </a:rPr>
              <a:t>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33" y="2505074"/>
            <a:ext cx="5238619" cy="1685925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4852" y="2743200"/>
            <a:ext cx="476238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0071CE"/>
                </a:solidFill>
              </a:rPr>
              <a:t> </a:t>
            </a:r>
            <a:r>
              <a:rPr sz="1104"/>
              <a:t>  </a:t>
            </a:r>
            <a:r>
              <a:rPr sz="1315" b="1">
                <a:solidFill>
                  <a:srgbClr val="0071CE"/>
                </a:solidFill>
              </a:rPr>
              <a:t> Dataset Structure 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2" y="2787967"/>
            <a:ext cx="228594" cy="177164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4852" y="3224212"/>
            <a:ext cx="228594" cy="1428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28694" y="3152775"/>
            <a:ext cx="3266993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71CE"/>
                </a:solidFill>
              </a:rPr>
              <a:t>17 columns</a:t>
            </a:r>
            <a:r>
              <a:rPr sz="1196" b="0">
                <a:solidFill>
                  <a:srgbClr val="333333"/>
                </a:solidFill>
              </a:rPr>
              <a:t> with sales transaction details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4852" y="3612832"/>
            <a:ext cx="228594" cy="1657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28694" y="3552825"/>
            <a:ext cx="2095447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0071CE"/>
                </a:solidFill>
              </a:rPr>
              <a:t>1000 rows</a:t>
            </a:r>
            <a:r>
              <a:rPr sz="1196" b="0">
                <a:solidFill>
                  <a:srgbClr val="333333"/>
                </a:solidFill>
              </a:rPr>
              <a:t> of sales records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33" y="4381499"/>
            <a:ext cx="5238619" cy="2085975"/>
          </a:xfrm>
          <a:prstGeom prst="roundRect">
            <a:avLst>
              <a:gd name="adj" fmla="val 730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4852" y="4619625"/>
            <a:ext cx="476238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315" b="1">
                <a:solidFill>
                  <a:srgbClr val="0071CE"/>
                </a:solidFill>
              </a:rPr>
              <a:t> </a:t>
            </a:r>
            <a:r>
              <a:rPr sz="1104"/>
              <a:t>  </a:t>
            </a:r>
            <a:r>
              <a:rPr sz="1315" b="1">
                <a:solidFill>
                  <a:srgbClr val="0071CE"/>
                </a:solidFill>
              </a:rPr>
              <a:t> Key Features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04852" y="4655820"/>
            <a:ext cx="228594" cy="194309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04852" y="5089207"/>
            <a:ext cx="228594" cy="16573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28694" y="5029200"/>
            <a:ext cx="2933626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Three Walmart branches in </a:t>
            </a:r>
            <a:r>
              <a:rPr sz="1196" b="1">
                <a:solidFill>
                  <a:srgbClr val="0071CE"/>
                </a:solidFill>
              </a:rPr>
              <a:t>Myanmar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04852" y="5474969"/>
            <a:ext cx="228594" cy="19430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28694" y="5429250"/>
            <a:ext cx="3295567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Locations: </a:t>
            </a:r>
            <a:r>
              <a:rPr sz="1196" b="1">
                <a:solidFill>
                  <a:srgbClr val="0071CE"/>
                </a:solidFill>
              </a:rPr>
              <a:t>Mandalay, Yangon, Naypyitaw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04852" y="5875019"/>
            <a:ext cx="228594" cy="19430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28694" y="5829300"/>
            <a:ext cx="3667033" cy="285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Multiple product lines and customer segments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3036" y="2609850"/>
            <a:ext cx="4714757" cy="2581275"/>
          </a:xfrm>
          <a:prstGeom prst="roundRect">
            <a:avLst/>
          </a:prstGeom>
          <a:blipFill>
            <a:blip r:embed="rId9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/>
          <p:cNvGrpSpPr/>
          <p:nvPr/>
        </p:nvGrpSpPr>
        <p:grpSpPr>
          <a:xfrm>
            <a:off x="0" y="0"/>
            <a:ext cx="12191695" cy="6711313"/>
            <a:chOff x="0" y="0"/>
            <a:chExt cx="12191695" cy="7248523"/>
          </a:xfrm>
        </p:grpSpPr>
        <p:sp>
          <p:nvSpPr>
            <p:cNvPr id="2" name="Rectangle 1"/>
            <p:cNvSpPr/>
            <p:nvPr/>
          </p:nvSpPr>
          <p:spPr>
            <a:xfrm>
              <a:off x="0" y="0"/>
              <a:ext cx="12191695" cy="857250"/>
            </a:xfrm>
            <a:prstGeom prst="rect">
              <a:avLst/>
            </a:prstGeom>
            <a:solidFill>
              <a:srgbClr val="0071C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666733" y="190499"/>
              <a:ext cx="10858228" cy="47624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392" b="1">
                  <a:solidFill>
                    <a:srgbClr val="FFFFFF"/>
                  </a:solidFill>
                </a:rPr>
                <a:t>Project Objectives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66733" y="1143000"/>
              <a:ext cx="10858228" cy="1171575"/>
            </a:xfrm>
            <a:prstGeom prst="roundRect">
              <a:avLst>
                <a:gd name="adj" fmla="val 13008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904852" y="1381124"/>
              <a:ext cx="10381990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975"/>
                </a:spcAft>
              </a:pPr>
              <a:r>
                <a:rPr sz="1315" b="1">
                  <a:solidFill>
                    <a:srgbClr val="0071CE"/>
                  </a:solidFill>
                </a:rPr>
                <a:t> </a:t>
              </a:r>
              <a:r>
                <a:rPr sz="1104"/>
                <a:t>  </a:t>
              </a:r>
              <a:r>
                <a:rPr sz="1315" b="1">
                  <a:solidFill>
                    <a:srgbClr val="0071CE"/>
                  </a:solidFill>
                </a:rPr>
                <a:t> Main Goal </a:t>
              </a:r>
            </a:p>
          </p:txBody>
        </p:sp>
        <p:pic>
          <p:nvPicPr>
            <p:cNvPr id="6" name="Picture 5" descr="image.png"/>
            <p:cNvPicPr>
              <a:picLocks noChangeAspect="1"/>
            </p:cNvPicPr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904852" y="1417320"/>
              <a:ext cx="228594" cy="194309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904852" y="1790700"/>
              <a:ext cx="10381990" cy="285750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lnSpc>
                  <a:spcPts val="19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6" b="0">
                  <a:solidFill>
                    <a:srgbClr val="333333"/>
                  </a:solidFill>
                </a:rPr>
                <a:t> Gain insights into Walmart sales data to understand factors affecting sales across different branches and </a:t>
              </a:r>
              <a:r>
                <a:rPr sz="1196" b="1">
                  <a:solidFill>
                    <a:srgbClr val="0071CE"/>
                  </a:solidFill>
                </a:rPr>
                <a:t>optimize sales strategies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66733" y="2600325"/>
              <a:ext cx="3495587" cy="2752725"/>
            </a:xfrm>
            <a:prstGeom prst="roundRect">
              <a:avLst>
                <a:gd name="adj" fmla="val 5536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219269" y="2820590"/>
              <a:ext cx="380990" cy="321468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857228" y="3314700"/>
              <a:ext cx="3114597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975"/>
                </a:spcAft>
              </a:pPr>
              <a:r>
                <a:rPr sz="1315" b="1">
                  <a:solidFill>
                    <a:srgbClr val="0071CE"/>
                  </a:solidFill>
                </a:rPr>
                <a:t>Product Analysis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57228" y="3724274"/>
              <a:ext cx="3114597" cy="219074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1076" b="0">
                  <a:solidFill>
                    <a:srgbClr val="333333"/>
                  </a:solidFill>
                </a:rPr>
                <a:t> Identify top-performing product lines </a:t>
              </a:r>
            </a:p>
          </p:txBody>
        </p:sp>
        <p:pic>
          <p:nvPicPr>
            <p:cNvPr id="12" name="Picture 11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57228" y="3735336"/>
              <a:ext cx="171445" cy="149327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857228" y="4057650"/>
              <a:ext cx="3114597" cy="219074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1076" b="0">
                  <a:solidFill>
                    <a:srgbClr val="333333"/>
                  </a:solidFill>
                </a:rPr>
                <a:t> Analyze revenue by product category </a:t>
              </a:r>
            </a:p>
          </p:txBody>
        </p:sp>
        <p:pic>
          <p:nvPicPr>
            <p:cNvPr id="14" name="Picture 13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57228" y="4068711"/>
              <a:ext cx="171445" cy="149327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857228" y="4391025"/>
              <a:ext cx="3114597" cy="219074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1076" b="0">
                  <a:solidFill>
                    <a:srgbClr val="333333"/>
                  </a:solidFill>
                </a:rPr>
                <a:t> Determine product improvement areas </a:t>
              </a:r>
            </a:p>
          </p:txBody>
        </p:sp>
        <p:pic>
          <p:nvPicPr>
            <p:cNvPr id="16" name="Picture 15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57228" y="4402086"/>
              <a:ext cx="171445" cy="149327"/>
            </a:xfrm>
            <a:prstGeom prst="rect">
              <a:avLst/>
            </a:prstGeom>
          </p:spPr>
        </p:pic>
        <p:sp>
          <p:nvSpPr>
            <p:cNvPr id="17" name="Rounded Rectangle 16"/>
            <p:cNvSpPr/>
            <p:nvPr/>
          </p:nvSpPr>
          <p:spPr>
            <a:xfrm>
              <a:off x="4352816" y="2600325"/>
              <a:ext cx="3495587" cy="2752725"/>
            </a:xfrm>
            <a:prstGeom prst="roundRect">
              <a:avLst>
                <a:gd name="adj" fmla="val 5536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8" name="Picture 17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905352" y="2880121"/>
              <a:ext cx="380990" cy="20240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4543311" y="3314700"/>
              <a:ext cx="3114597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975"/>
                </a:spcAft>
              </a:pPr>
              <a:r>
                <a:rPr sz="1315" b="1">
                  <a:solidFill>
                    <a:srgbClr val="0071CE"/>
                  </a:solidFill>
                </a:rPr>
                <a:t>Sales Analysis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543311" y="3724274"/>
              <a:ext cx="3114597" cy="438149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1076" b="0">
                  <a:solidFill>
                    <a:srgbClr val="333333"/>
                  </a:solidFill>
                </a:rPr>
                <a:t> Evaluate sales trends by time/day/month </a:t>
              </a:r>
            </a:p>
          </p:txBody>
        </p:sp>
        <p:pic>
          <p:nvPicPr>
            <p:cNvPr id="21" name="Picture 20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543311" y="3735336"/>
              <a:ext cx="171445" cy="149327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4543311" y="4276725"/>
              <a:ext cx="3114597" cy="438149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1076" b="0">
                  <a:solidFill>
                    <a:srgbClr val="333333"/>
                  </a:solidFill>
                </a:rPr>
                <a:t> Measure effectiveness of sales strategies </a:t>
              </a:r>
            </a:p>
          </p:txBody>
        </p:sp>
        <p:pic>
          <p:nvPicPr>
            <p:cNvPr id="23" name="Picture 22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543311" y="4287786"/>
              <a:ext cx="171445" cy="149327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4543311" y="4829175"/>
              <a:ext cx="3114597" cy="219074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1076" b="0">
                  <a:solidFill>
                    <a:srgbClr val="333333"/>
                  </a:solidFill>
                </a:rPr>
                <a:t> Identify peak sales periods </a:t>
              </a:r>
            </a:p>
          </p:txBody>
        </p:sp>
        <p:pic>
          <p:nvPicPr>
            <p:cNvPr id="25" name="Picture 24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543311" y="4840236"/>
              <a:ext cx="171445" cy="149327"/>
            </a:xfrm>
            <a:prstGeom prst="rect">
              <a:avLst/>
            </a:prstGeom>
          </p:spPr>
        </p:pic>
        <p:sp>
          <p:nvSpPr>
            <p:cNvPr id="26" name="Rounded Rectangle 25"/>
            <p:cNvSpPr/>
            <p:nvPr/>
          </p:nvSpPr>
          <p:spPr>
            <a:xfrm>
              <a:off x="8029374" y="2600325"/>
              <a:ext cx="3495587" cy="2752725"/>
            </a:xfrm>
            <a:prstGeom prst="roundRect">
              <a:avLst>
                <a:gd name="adj" fmla="val 5536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7" name="Picture 26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9591435" y="2865239"/>
              <a:ext cx="380990" cy="232171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8219869" y="3314700"/>
              <a:ext cx="3114597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0"/>
                </a:spcBef>
                <a:spcAft>
                  <a:spcPts val="975"/>
                </a:spcAft>
              </a:pPr>
              <a:r>
                <a:rPr sz="1315" b="1">
                  <a:solidFill>
                    <a:srgbClr val="0071CE"/>
                  </a:solidFill>
                </a:rPr>
                <a:t>Customer Analysis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219869" y="3724274"/>
              <a:ext cx="3114597" cy="219074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1076" b="0">
                  <a:solidFill>
                    <a:srgbClr val="333333"/>
                  </a:solidFill>
                </a:rPr>
                <a:t> Identify customer segments </a:t>
              </a:r>
            </a:p>
          </p:txBody>
        </p:sp>
        <p:pic>
          <p:nvPicPr>
            <p:cNvPr id="30" name="Picture 29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219869" y="3735336"/>
              <a:ext cx="171445" cy="149327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8219869" y="4057650"/>
              <a:ext cx="3114597" cy="219074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1076" b="0">
                  <a:solidFill>
                    <a:srgbClr val="333333"/>
                  </a:solidFill>
                </a:rPr>
                <a:t> Analyze purchase patterns </a:t>
              </a:r>
            </a:p>
          </p:txBody>
        </p:sp>
        <p:pic>
          <p:nvPicPr>
            <p:cNvPr id="32" name="Picture 31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219869" y="4068711"/>
              <a:ext cx="171445" cy="149327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8219869" y="4391025"/>
              <a:ext cx="3114597" cy="219074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1076" b="0">
                  <a:solidFill>
                    <a:srgbClr val="333333"/>
                  </a:solidFill>
                </a:rPr>
                <a:t> Evaluate customer profitability </a:t>
              </a:r>
            </a:p>
          </p:txBody>
        </p:sp>
        <p:pic>
          <p:nvPicPr>
            <p:cNvPr id="34" name="Picture 33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219869" y="4402086"/>
              <a:ext cx="171445" cy="149327"/>
            </a:xfrm>
            <a:prstGeom prst="rect">
              <a:avLst/>
            </a:prstGeom>
          </p:spPr>
        </p:pic>
        <p:sp>
          <p:nvSpPr>
            <p:cNvPr id="35" name="Rounded Rectangle 34"/>
            <p:cNvSpPr/>
            <p:nvPr/>
          </p:nvSpPr>
          <p:spPr>
            <a:xfrm>
              <a:off x="666733" y="5638799"/>
              <a:ext cx="10858228" cy="1609724"/>
            </a:xfrm>
            <a:prstGeom prst="roundRect">
              <a:avLst>
                <a:gd name="adj" fmla="val 9467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4852" y="5876925"/>
              <a:ext cx="10381990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975"/>
                </a:spcAft>
              </a:pPr>
              <a:r>
                <a:rPr sz="1315" b="1">
                  <a:solidFill>
                    <a:srgbClr val="0071CE"/>
                  </a:solidFill>
                </a:rPr>
                <a:t> </a:t>
              </a:r>
              <a:r>
                <a:rPr sz="1104"/>
                <a:t>  </a:t>
              </a:r>
              <a:r>
                <a:rPr sz="1315" b="1">
                  <a:solidFill>
                    <a:srgbClr val="0071CE"/>
                  </a:solidFill>
                </a:rPr>
                <a:t> Expected Outcomes &amp; Business Value </a:t>
              </a:r>
            </a:p>
          </p:txBody>
        </p:sp>
        <p:pic>
          <p:nvPicPr>
            <p:cNvPr id="37" name="Picture 36" descr="image.png"/>
            <p:cNvPicPr>
              <a:picLocks noChangeAspect="1"/>
            </p:cNvPicPr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904852" y="5924549"/>
              <a:ext cx="228594" cy="171450"/>
            </a:xfrm>
            <a:prstGeom prst="rect">
              <a:avLst/>
            </a:prstGeom>
          </p:spPr>
        </p:pic>
        <p:sp>
          <p:nvSpPr>
            <p:cNvPr id="38" name="Rounded Rectangle 37"/>
            <p:cNvSpPr/>
            <p:nvPr/>
          </p:nvSpPr>
          <p:spPr>
            <a:xfrm>
              <a:off x="904852" y="6410324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0071C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9" name="Picture 38" descr="image.png"/>
            <p:cNvPicPr>
              <a:picLocks noChangeAspect="1"/>
            </p:cNvPicPr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1028674" y="6551295"/>
              <a:ext cx="228594" cy="194309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1523961" y="6286500"/>
              <a:ext cx="2714557" cy="723900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076" b="1">
                  <a:solidFill>
                    <a:srgbClr val="0071CE"/>
                  </a:solidFill>
                </a:rPr>
                <a:t>Data-driven decisions</a:t>
              </a:r>
              <a:r>
                <a:rPr sz="1076" b="0">
                  <a:solidFill>
                    <a:srgbClr val="333333"/>
                  </a:solidFill>
                </a:rPr>
                <a:t> for inventory management and product assortment 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429014" y="6410324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0071C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2" name="Picture 41" descr="image.png"/>
            <p:cNvPicPr>
              <a:picLocks noChangeAspect="1"/>
            </p:cNvPicPr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4552836" y="6567011"/>
              <a:ext cx="228594" cy="162877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5048123" y="6410324"/>
              <a:ext cx="2714557" cy="476249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076" b="1">
                  <a:solidFill>
                    <a:srgbClr val="0071CE"/>
                  </a:solidFill>
                </a:rPr>
                <a:t>Optimized sales strategies</a:t>
              </a:r>
              <a:r>
                <a:rPr sz="1076" b="0">
                  <a:solidFill>
                    <a:srgbClr val="333333"/>
                  </a:solidFill>
                </a:rPr>
                <a:t> tailored to each branch's performance 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7953176" y="6410324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0071C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5" name="Picture 44" descr="image.png"/>
            <p:cNvPicPr>
              <a:picLocks noChangeAspect="1"/>
            </p:cNvPicPr>
            <p:nvPr/>
          </p:nvPicPr>
          <p:blipFill>
            <a:blip r:embed="rId10">
              <a:alphaModFix/>
            </a:blip>
            <a:stretch>
              <a:fillRect/>
            </a:stretch>
          </p:blipFill>
          <p:spPr>
            <a:xfrm>
              <a:off x="8076998" y="6585584"/>
              <a:ext cx="228594" cy="125729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8572285" y="6410324"/>
              <a:ext cx="2714557" cy="476249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 </a:t>
              </a:r>
              <a:r>
                <a:rPr sz="1076" b="1">
                  <a:solidFill>
                    <a:srgbClr val="0071CE"/>
                  </a:solidFill>
                </a:rPr>
                <a:t>Increased revenue</a:t>
              </a:r>
              <a:r>
                <a:rPr sz="1076" b="0">
                  <a:solidFill>
                    <a:srgbClr val="333333"/>
                  </a:solidFill>
                </a:rPr>
                <a:t> through targeted marketing and promotions 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6733" y="190499"/>
            <a:ext cx="10858228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</a:rPr>
              <a:t>Analysis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508" y="1143000"/>
            <a:ext cx="761980" cy="76199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848003" y="1345406"/>
            <a:ext cx="380990" cy="3571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6538" y="2000250"/>
            <a:ext cx="1123921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071CE"/>
                </a:solidFill>
              </a:rPr>
              <a:t>Data Wrangling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3391" y="1143000"/>
            <a:ext cx="761980" cy="76199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3886" y="1372195"/>
            <a:ext cx="380990" cy="303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81450" y="2000250"/>
            <a:ext cx="1485862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071CE"/>
                </a:solidFill>
              </a:rPr>
              <a:t>Feature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0739" y="1143000"/>
            <a:ext cx="761980" cy="76199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1235" y="1381124"/>
            <a:ext cx="380990" cy="285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303" y="2000250"/>
            <a:ext cx="1866853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0071CE"/>
                </a:solidFill>
              </a:rPr>
              <a:t>Exploratory Data Analysis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6733" y="2505074"/>
            <a:ext cx="3457488" cy="4190999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04852" y="2743200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4852" y="2743200"/>
            <a:ext cx="380990" cy="380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196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852" y="3267075"/>
            <a:ext cx="298125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0071CE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0071CE"/>
                </a:solidFill>
              </a:rPr>
              <a:t> Data Wrangling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4852" y="3285347"/>
            <a:ext cx="285742" cy="26825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04852" y="3778063"/>
            <a:ext cx="190495" cy="14007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90595" y="3752849"/>
            <a:ext cx="203829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Build database</a:t>
            </a:r>
            <a:r>
              <a:rPr sz="1196" b="0">
                <a:solidFill>
                  <a:srgbClr val="333333"/>
                </a:solidFill>
              </a:rPr>
              <a:t> using SQL 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04852" y="4182035"/>
            <a:ext cx="190495" cy="15127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90595" y="4162424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Create tables</a:t>
            </a:r>
            <a:r>
              <a:rPr sz="1196" b="0">
                <a:solidFill>
                  <a:srgbClr val="333333"/>
                </a:solidFill>
              </a:rPr>
              <a:t> with proper data types 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04852" y="4863913"/>
            <a:ext cx="190495" cy="140073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90595" y="4838699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Handle null values</a:t>
            </a:r>
            <a:r>
              <a:rPr sz="1196" b="0">
                <a:solidFill>
                  <a:srgbClr val="333333"/>
                </a:solidFill>
              </a:rPr>
              <a:t> - none present in dataset 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04852" y="5528982"/>
            <a:ext cx="190495" cy="1624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90595" y="5514975"/>
            <a:ext cx="262883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Insert data</a:t>
            </a:r>
            <a:r>
              <a:rPr sz="1196" b="0">
                <a:solidFill>
                  <a:srgbClr val="333333"/>
                </a:solidFill>
              </a:rPr>
              <a:t> into structured tables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62340" y="2505074"/>
            <a:ext cx="3457488" cy="4190999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600459" y="2743200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00459" y="2743200"/>
            <a:ext cx="380990" cy="380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196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0459" y="3267075"/>
            <a:ext cx="298125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0071CE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0071CE"/>
                </a:solidFill>
              </a:rPr>
              <a:t> Feature Engineering 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600459" y="3304300"/>
            <a:ext cx="285742" cy="230349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4600459" y="3766857"/>
            <a:ext cx="190495" cy="16248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886202" y="3752849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time_of_day</a:t>
            </a:r>
            <a:r>
              <a:rPr sz="1196" b="0">
                <a:solidFill>
                  <a:srgbClr val="333333"/>
                </a:solidFill>
              </a:rPr>
              <a:t> column (Morning, Afternoon, Evening) 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600459" y="4441731"/>
            <a:ext cx="190495" cy="16528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886202" y="4429125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day_name</a:t>
            </a:r>
            <a:r>
              <a:rPr sz="1196" b="0">
                <a:solidFill>
                  <a:srgbClr val="333333"/>
                </a:solidFill>
              </a:rPr>
              <a:t> column (Mon, Tue, Wed, etc.) 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4600459" y="5119407"/>
            <a:ext cx="190495" cy="162485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886202" y="5105400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month_name</a:t>
            </a:r>
            <a:r>
              <a:rPr sz="1196" b="0">
                <a:solidFill>
                  <a:srgbClr val="333333"/>
                </a:solidFill>
              </a:rPr>
              <a:t> column (Jan, Feb, Mar) 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600459" y="5795682"/>
            <a:ext cx="190495" cy="1624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886202" y="5781674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product_category</a:t>
            </a:r>
            <a:r>
              <a:rPr sz="1196" b="0">
                <a:solidFill>
                  <a:srgbClr val="333333"/>
                </a:solidFill>
              </a:rPr>
              <a:t> column (Good/Bad based on sales) 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7473" y="2505074"/>
            <a:ext cx="3457488" cy="4190999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305592" y="2743200"/>
            <a:ext cx="380990" cy="380999"/>
          </a:xfrm>
          <a:prstGeom prst="roundRect">
            <a:avLst>
              <a:gd name="adj" fmla="val 50000"/>
            </a:avLst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05592" y="2743200"/>
            <a:ext cx="380990" cy="380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1196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5592" y="3267075"/>
            <a:ext cx="298125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435" b="1">
                <a:solidFill>
                  <a:srgbClr val="0071CE"/>
                </a:solidFill>
              </a:rPr>
              <a:t> </a:t>
            </a:r>
            <a:r>
              <a:rPr sz="1104"/>
              <a:t>  </a:t>
            </a:r>
            <a:r>
              <a:rPr sz="1435" b="1">
                <a:solidFill>
                  <a:srgbClr val="0071CE"/>
                </a:solidFill>
              </a:rPr>
              <a:t> Exploratory Data Analysis 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305592" y="3311589"/>
            <a:ext cx="285742" cy="215770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305592" y="3766857"/>
            <a:ext cx="190495" cy="16248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591335" y="3752849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Product Analysis</a:t>
            </a:r>
            <a:r>
              <a:rPr sz="1196" b="0">
                <a:solidFill>
                  <a:srgbClr val="333333"/>
                </a:solidFill>
              </a:rPr>
              <a:t> - top performers, revenue 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8305592" y="4471147"/>
            <a:ext cx="190495" cy="10645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591335" y="4429125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Sales Analysis</a:t>
            </a:r>
            <a:r>
              <a:rPr sz="1196" b="0">
                <a:solidFill>
                  <a:srgbClr val="333333"/>
                </a:solidFill>
              </a:rPr>
              <a:t> - trends, peak periods 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305592" y="5139017"/>
            <a:ext cx="190495" cy="12326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591335" y="5105400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Customer Analysis</a:t>
            </a:r>
            <a:r>
              <a:rPr sz="1196" b="0">
                <a:solidFill>
                  <a:srgbClr val="333333"/>
                </a:solidFill>
              </a:rPr>
              <a:t> - segments, behavior 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8305592" y="5804086"/>
            <a:ext cx="190495" cy="14567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591335" y="5781674"/>
            <a:ext cx="2695507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Revenue &amp; Profit</a:t>
            </a:r>
            <a:r>
              <a:rPr sz="1196" b="0">
                <a:solidFill>
                  <a:srgbClr val="333333"/>
                </a:solidFill>
              </a:rPr>
              <a:t> calculations and metrics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6733" y="190499"/>
            <a:ext cx="10858228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</a:rPr>
              <a:t>Key Business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143000"/>
            <a:ext cx="5314817" cy="2686050"/>
          </a:xfrm>
          <a:prstGeom prst="roundRect">
            <a:avLst>
              <a:gd name="adj" fmla="val 567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57228" y="1333500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62000" y="1458567"/>
            <a:ext cx="266693" cy="2261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76338" y="1428750"/>
            <a:ext cx="1781130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71CE"/>
                </a:solidFill>
              </a:rPr>
              <a:t>Generic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28" y="1952624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How many </a:t>
            </a:r>
            <a:r>
              <a:rPr sz="1076" b="1">
                <a:solidFill>
                  <a:srgbClr val="0071CE"/>
                </a:solidFill>
              </a:rPr>
              <a:t>unique cities</a:t>
            </a:r>
            <a:r>
              <a:rPr sz="1076" b="0">
                <a:solidFill>
                  <a:srgbClr val="333333"/>
                </a:solidFill>
              </a:rPr>
              <a:t> in the dataset?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1994104"/>
            <a:ext cx="171445" cy="884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7228" y="2286000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In which city is each </a:t>
            </a:r>
            <a:r>
              <a:rPr sz="1076" b="1">
                <a:solidFill>
                  <a:srgbClr val="0071CE"/>
                </a:solidFill>
              </a:rPr>
              <a:t>branch</a:t>
            </a:r>
            <a:r>
              <a:rPr sz="1076" b="0">
                <a:solidFill>
                  <a:srgbClr val="333333"/>
                </a:solidFill>
              </a:rPr>
              <a:t> located?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2327479"/>
            <a:ext cx="171445" cy="8849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0144" y="1143000"/>
            <a:ext cx="5314817" cy="2686050"/>
          </a:xfrm>
          <a:prstGeom prst="roundRect">
            <a:avLst>
              <a:gd name="adj" fmla="val 567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639" y="1333500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14937" y="1458567"/>
            <a:ext cx="266693" cy="22611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29274" y="1428750"/>
            <a:ext cx="1638259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71CE"/>
                </a:solidFill>
              </a:rPr>
              <a:t>Product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639" y="1952624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How many </a:t>
            </a:r>
            <a:r>
              <a:rPr sz="1076" b="1">
                <a:solidFill>
                  <a:srgbClr val="0071CE"/>
                </a:solidFill>
              </a:rPr>
              <a:t>unique product lines</a:t>
            </a:r>
            <a:r>
              <a:rPr sz="1076" b="0">
                <a:solidFill>
                  <a:srgbClr val="333333"/>
                </a:solidFill>
              </a:rPr>
              <a:t>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1994104"/>
            <a:ext cx="171445" cy="884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639" y="2286000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What is the </a:t>
            </a:r>
            <a:r>
              <a:rPr sz="1076" b="1">
                <a:solidFill>
                  <a:srgbClr val="0071CE"/>
                </a:solidFill>
              </a:rPr>
              <a:t>most common payment method</a:t>
            </a:r>
            <a:r>
              <a:rPr sz="1076" b="0">
                <a:solidFill>
                  <a:srgbClr val="333333"/>
                </a:solidFill>
              </a:rPr>
              <a:t>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2327479"/>
            <a:ext cx="171445" cy="8849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639" y="2628900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What is the </a:t>
            </a:r>
            <a:r>
              <a:rPr sz="1076" b="1">
                <a:solidFill>
                  <a:srgbClr val="0071CE"/>
                </a:solidFill>
              </a:rPr>
              <a:t>most selling product line</a:t>
            </a:r>
            <a:r>
              <a:rPr sz="1076" b="0">
                <a:solidFill>
                  <a:srgbClr val="333333"/>
                </a:solidFill>
              </a:rPr>
              <a:t>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2670379"/>
            <a:ext cx="171445" cy="8849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639" y="2962274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What is the </a:t>
            </a:r>
            <a:r>
              <a:rPr sz="1076" b="1">
                <a:solidFill>
                  <a:srgbClr val="0071CE"/>
                </a:solidFill>
              </a:rPr>
              <a:t>total revenue by month</a:t>
            </a:r>
            <a:r>
              <a:rPr sz="1076" b="0">
                <a:solidFill>
                  <a:srgbClr val="333333"/>
                </a:solidFill>
              </a:rPr>
              <a:t>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3003754"/>
            <a:ext cx="171445" cy="884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639" y="3305174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Which product line had the </a:t>
            </a:r>
            <a:r>
              <a:rPr sz="1076" b="1">
                <a:solidFill>
                  <a:srgbClr val="0071CE"/>
                </a:solidFill>
              </a:rPr>
              <a:t>largest revenue</a:t>
            </a:r>
            <a:r>
              <a:rPr sz="1076" b="0">
                <a:solidFill>
                  <a:srgbClr val="333333"/>
                </a:solidFill>
              </a:rPr>
              <a:t>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3346654"/>
            <a:ext cx="171445" cy="8849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666733" y="4067174"/>
            <a:ext cx="5314817" cy="2686050"/>
          </a:xfrm>
          <a:prstGeom prst="roundRect">
            <a:avLst>
              <a:gd name="adj" fmla="val 567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57228" y="4257675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2000" y="4423327"/>
            <a:ext cx="266693" cy="14494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76338" y="4343400"/>
            <a:ext cx="1371565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71CE"/>
                </a:solidFill>
              </a:rPr>
              <a:t>Sales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28" y="4876800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Number of sales made in each </a:t>
            </a:r>
            <a:r>
              <a:rPr sz="1076" b="1">
                <a:solidFill>
                  <a:srgbClr val="0071CE"/>
                </a:solidFill>
              </a:rPr>
              <a:t>time of day</a:t>
            </a:r>
            <a:r>
              <a:rPr sz="1076" b="0">
                <a:solidFill>
                  <a:srgbClr val="333333"/>
                </a:solidFill>
              </a:rPr>
              <a:t> per weekday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4918279"/>
            <a:ext cx="171445" cy="8849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57228" y="5210174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Which </a:t>
            </a:r>
            <a:r>
              <a:rPr sz="1076" b="1">
                <a:solidFill>
                  <a:srgbClr val="0071CE"/>
                </a:solidFill>
              </a:rPr>
              <a:t>customer type</a:t>
            </a:r>
            <a:r>
              <a:rPr sz="1076" b="0">
                <a:solidFill>
                  <a:srgbClr val="333333"/>
                </a:solidFill>
              </a:rPr>
              <a:t> brings the most revenue?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5251654"/>
            <a:ext cx="171445" cy="8849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7228" y="5553074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Which city has the largest </a:t>
            </a:r>
            <a:r>
              <a:rPr sz="1076" b="1">
                <a:solidFill>
                  <a:srgbClr val="0071CE"/>
                </a:solidFill>
              </a:rPr>
              <a:t>tax percent/VAT</a:t>
            </a:r>
            <a:r>
              <a:rPr sz="1076" b="0">
                <a:solidFill>
                  <a:srgbClr val="333333"/>
                </a:solidFill>
              </a:rPr>
              <a:t>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5594554"/>
            <a:ext cx="171445" cy="8849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57228" y="5886450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Which customer type pays the most in </a:t>
            </a:r>
            <a:r>
              <a:rPr sz="1076" b="1">
                <a:solidFill>
                  <a:srgbClr val="0071CE"/>
                </a:solidFill>
              </a:rPr>
              <a:t>VAT</a:t>
            </a:r>
            <a:r>
              <a:rPr sz="1076" b="0">
                <a:solidFill>
                  <a:srgbClr val="333333"/>
                </a:solidFill>
              </a:rPr>
              <a:t>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5927929"/>
            <a:ext cx="171445" cy="8849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210144" y="4067174"/>
            <a:ext cx="5314817" cy="2686050"/>
          </a:xfrm>
          <a:prstGeom prst="roundRect">
            <a:avLst>
              <a:gd name="adj" fmla="val 567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400639" y="4257675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14937" y="4411731"/>
            <a:ext cx="266693" cy="1681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9274" y="4343400"/>
            <a:ext cx="1800179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71CE"/>
                </a:solidFill>
              </a:rPr>
              <a:t>Customer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639" y="4876800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How many </a:t>
            </a:r>
            <a:r>
              <a:rPr sz="1076" b="1">
                <a:solidFill>
                  <a:srgbClr val="0071CE"/>
                </a:solidFill>
              </a:rPr>
              <a:t>unique customer types</a:t>
            </a:r>
            <a:r>
              <a:rPr sz="1076" b="0">
                <a:solidFill>
                  <a:srgbClr val="333333"/>
                </a:solidFill>
              </a:rPr>
              <a:t>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4918279"/>
            <a:ext cx="171445" cy="8849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400639" y="5210174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What is the </a:t>
            </a:r>
            <a:r>
              <a:rPr sz="1076" b="1">
                <a:solidFill>
                  <a:srgbClr val="0071CE"/>
                </a:solidFill>
              </a:rPr>
              <a:t>most common customer type</a:t>
            </a:r>
            <a:r>
              <a:rPr sz="1076" b="0">
                <a:solidFill>
                  <a:srgbClr val="333333"/>
                </a:solidFill>
              </a:rPr>
              <a:t>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5251654"/>
            <a:ext cx="171445" cy="884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00639" y="5553074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What is the </a:t>
            </a:r>
            <a:r>
              <a:rPr sz="1076" b="1">
                <a:solidFill>
                  <a:srgbClr val="0071CE"/>
                </a:solidFill>
              </a:rPr>
              <a:t>gender distribution</a:t>
            </a:r>
            <a:r>
              <a:rPr sz="1076" b="0">
                <a:solidFill>
                  <a:srgbClr val="333333"/>
                </a:solidFill>
              </a:rPr>
              <a:t> per branch?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5594554"/>
            <a:ext cx="171445" cy="8849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400639" y="5886450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Which </a:t>
            </a:r>
            <a:r>
              <a:rPr sz="1076" b="1">
                <a:solidFill>
                  <a:srgbClr val="0071CE"/>
                </a:solidFill>
              </a:rPr>
              <a:t>time of day</a:t>
            </a:r>
            <a:r>
              <a:rPr sz="1076" b="0">
                <a:solidFill>
                  <a:srgbClr val="333333"/>
                </a:solidFill>
              </a:rPr>
              <a:t> do customers give most ratings?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5927929"/>
            <a:ext cx="171445" cy="8849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400639" y="6229350"/>
            <a:ext cx="4933826" cy="219074"/>
          </a:xfrm>
          <a:prstGeom prst="rect">
            <a:avLst/>
          </a:prstGeom>
          <a:noFill/>
        </p:spPr>
        <p:txBody>
          <a:bodyPr wrap="non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780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076" b="0">
                <a:solidFill>
                  <a:srgbClr val="333333"/>
                </a:solidFill>
              </a:rPr>
              <a:t>Which </a:t>
            </a:r>
            <a:r>
              <a:rPr sz="1076" b="1">
                <a:solidFill>
                  <a:srgbClr val="0071CE"/>
                </a:solidFill>
              </a:rPr>
              <a:t>day of the week</a:t>
            </a:r>
            <a:r>
              <a:rPr sz="1076" b="0">
                <a:solidFill>
                  <a:srgbClr val="333333"/>
                </a:solidFill>
              </a:rPr>
              <a:t> has the best avg ratings?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639" y="6270829"/>
            <a:ext cx="171445" cy="884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/>
          <p:cNvGrpSpPr/>
          <p:nvPr/>
        </p:nvGrpSpPr>
        <p:grpSpPr>
          <a:xfrm>
            <a:off x="265471" y="0"/>
            <a:ext cx="11926224" cy="6600825"/>
            <a:chOff x="0" y="0"/>
            <a:chExt cx="12191695" cy="7562850"/>
          </a:xfrm>
        </p:grpSpPr>
        <p:sp>
          <p:nvSpPr>
            <p:cNvPr id="2" name="Rectangle 1"/>
            <p:cNvSpPr/>
            <p:nvPr/>
          </p:nvSpPr>
          <p:spPr>
            <a:xfrm>
              <a:off x="0" y="0"/>
              <a:ext cx="12191695" cy="857250"/>
            </a:xfrm>
            <a:prstGeom prst="rect">
              <a:avLst/>
            </a:prstGeom>
            <a:solidFill>
              <a:srgbClr val="0071C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666733" y="190499"/>
              <a:ext cx="10858228" cy="47624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392" b="1">
                  <a:solidFill>
                    <a:srgbClr val="FFFFFF"/>
                  </a:solidFill>
                </a:rPr>
                <a:t>Retail Analytics Best Practices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66733" y="1143000"/>
              <a:ext cx="6343491" cy="1133475"/>
            </a:xfrm>
            <a:prstGeom prst="roundRect">
              <a:avLst>
                <a:gd name="adj" fmla="val 13445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838179" y="1314450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E9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6" name="Picture 5" descr="image.png"/>
            <p:cNvPicPr>
              <a:picLocks noChangeAspect="1"/>
            </p:cNvPicPr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942951" y="1452562"/>
              <a:ext cx="266693" cy="200025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457288" y="1314450"/>
              <a:ext cx="5381490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0071CE"/>
                  </a:solidFill>
                </a:rPr>
                <a:t>Create Objectives and Goals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57288" y="1657350"/>
              <a:ext cx="5381490" cy="447675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4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 Set clear objectives </a:t>
              </a:r>
              <a:r>
                <a:rPr sz="1076" b="1">
                  <a:solidFill>
                    <a:srgbClr val="0071CE"/>
                  </a:solidFill>
                </a:rPr>
                <a:t>before</a:t>
              </a:r>
              <a:r>
                <a:rPr sz="1076" b="0">
                  <a:solidFill>
                    <a:srgbClr val="333333"/>
                  </a:solidFill>
                </a:rPr>
                <a:t> analyzing data. Focus on specific goals like increasing basket size, market share, or customer loyalty. 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66733" y="2466975"/>
              <a:ext cx="6343491" cy="1133475"/>
            </a:xfrm>
            <a:prstGeom prst="roundRect">
              <a:avLst>
                <a:gd name="adj" fmla="val 13445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38179" y="2638425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E9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1" name="Picture 10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42951" y="2772189"/>
              <a:ext cx="266693" cy="208721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457288" y="2638425"/>
              <a:ext cx="5381490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0071CE"/>
                  </a:solidFill>
                </a:rPr>
                <a:t>Use Historical Data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457288" y="2981325"/>
              <a:ext cx="5381490" cy="447675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4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 Examine both </a:t>
              </a:r>
              <a:r>
                <a:rPr sz="1076" b="1">
                  <a:solidFill>
                    <a:srgbClr val="0071CE"/>
                  </a:solidFill>
                </a:rPr>
                <a:t>micro and macro trends</a:t>
              </a:r>
              <a:r>
                <a:rPr sz="1076" b="0">
                  <a:solidFill>
                    <a:srgbClr val="333333"/>
                  </a:solidFill>
                </a:rPr>
                <a:t> in customer behavior across daily, weekly, monthly, and seasonal patterns. 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66733" y="3790949"/>
              <a:ext cx="6343491" cy="1133475"/>
            </a:xfrm>
            <a:prstGeom prst="roundRect">
              <a:avLst>
                <a:gd name="adj" fmla="val 13445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38179" y="3962399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E9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6" name="Picture 15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42951" y="4075871"/>
              <a:ext cx="266693" cy="249306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457288" y="3962399"/>
              <a:ext cx="5381490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0071CE"/>
                  </a:solidFill>
                </a:rPr>
                <a:t>Compare Metrics and Reports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457288" y="4305300"/>
              <a:ext cx="5381490" cy="447675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4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 Avoid analyzing data in silos. Compare </a:t>
              </a:r>
              <a:r>
                <a:rPr sz="1076" b="1">
                  <a:solidFill>
                    <a:srgbClr val="0071CE"/>
                  </a:solidFill>
                </a:rPr>
                <a:t>velocity, incremental lift,</a:t>
              </a:r>
              <a:r>
                <a:rPr sz="1076" b="0">
                  <a:solidFill>
                    <a:srgbClr val="333333"/>
                  </a:solidFill>
                </a:rPr>
                <a:t> and </a:t>
              </a:r>
              <a:r>
                <a:rPr sz="1076" b="1">
                  <a:solidFill>
                    <a:srgbClr val="0071CE"/>
                  </a:solidFill>
                </a:rPr>
                <a:t>category level data</a:t>
              </a:r>
              <a:r>
                <a:rPr sz="1076" b="0">
                  <a:solidFill>
                    <a:srgbClr val="333333"/>
                  </a:solidFill>
                </a:rPr>
                <a:t> to see the bigger picture. 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66733" y="5105400"/>
              <a:ext cx="6343491" cy="1133475"/>
            </a:xfrm>
            <a:prstGeom prst="roundRect">
              <a:avLst>
                <a:gd name="adj" fmla="val 13445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38179" y="5276850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E9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1" name="Picture 20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942951" y="5442502"/>
              <a:ext cx="266693" cy="144945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457288" y="5276850"/>
              <a:ext cx="5381490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0071CE"/>
                  </a:solidFill>
                </a:rPr>
                <a:t>Look for Trends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457288" y="5619750"/>
              <a:ext cx="5381490" cy="447675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4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 Use historical data to </a:t>
              </a:r>
              <a:r>
                <a:rPr sz="1076" b="1">
                  <a:solidFill>
                    <a:srgbClr val="0071CE"/>
                  </a:solidFill>
                </a:rPr>
                <a:t>forecast demand</a:t>
              </a:r>
              <a:r>
                <a:rPr sz="1076" b="0">
                  <a:solidFill>
                    <a:srgbClr val="333333"/>
                  </a:solidFill>
                </a:rPr>
                <a:t>, optimize inventory, and identify operational improvements across the supply chain. 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66733" y="6429375"/>
              <a:ext cx="6343491" cy="1133475"/>
            </a:xfrm>
            <a:prstGeom prst="roundRect">
              <a:avLst>
                <a:gd name="adj" fmla="val 13445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38179" y="6600825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E9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6" name="Picture 25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942951" y="6714296"/>
              <a:ext cx="266693" cy="249306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1457288" y="6600825"/>
              <a:ext cx="5381490" cy="2666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520"/>
                </a:spcAft>
              </a:pPr>
              <a:r>
                <a:rPr sz="1315" b="1">
                  <a:solidFill>
                    <a:srgbClr val="0071CE"/>
                  </a:solidFill>
                </a:rPr>
                <a:t>Use Offline and Online Data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457288" y="6943725"/>
              <a:ext cx="5381490" cy="447675"/>
            </a:xfrm>
            <a:prstGeom prst="rect">
              <a:avLst/>
            </a:prstGeom>
            <a:noFill/>
          </p:spPr>
          <p:txBody>
            <a:bodyPr wrap="square" lIns="73152" tIns="54864" rIns="73152" bIns="54864" anchor="ctr">
              <a:spAutoFit/>
            </a:bodyPr>
            <a:lstStyle/>
            <a:p>
              <a:pPr algn="l">
                <a:lnSpc>
                  <a:spcPts val="14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76" b="0">
                  <a:solidFill>
                    <a:srgbClr val="333333"/>
                  </a:solidFill>
                </a:rPr>
                <a:t> Integrate data from </a:t>
              </a:r>
              <a:r>
                <a:rPr sz="1076" b="1">
                  <a:solidFill>
                    <a:srgbClr val="0071CE"/>
                  </a:solidFill>
                </a:rPr>
                <a:t>multiple touchpoints</a:t>
              </a:r>
              <a:r>
                <a:rPr sz="1076" b="0">
                  <a:solidFill>
                    <a:srgbClr val="333333"/>
                  </a:solidFill>
                </a:rPr>
                <a:t> to create a unified view of the customer journey and understand purchase motivations. 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7295967" y="2581275"/>
              <a:ext cx="4228994" cy="3209925"/>
            </a:xfrm>
            <a:prstGeom prst="roundRect">
              <a:avLst/>
            </a:prstGeom>
            <a:blipFill>
              <a:blip r:embed="rId7"/>
              <a:stretch>
                <a:fillRect/>
              </a:stretch>
            </a:blip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486462" y="5934075"/>
              <a:ext cx="3848003" cy="19049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ctr">
                <a:spcBef>
                  <a:spcPts val="975"/>
                </a:spcBef>
                <a:spcAft>
                  <a:spcPts val="0"/>
                </a:spcAft>
              </a:pPr>
              <a:r>
                <a:rPr sz="956" b="0">
                  <a:solidFill>
                    <a:srgbClr val="666666"/>
                  </a:solidFill>
                </a:rPr>
                <a:t>Retail analytics dashboard showing key performance metrics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/>
          <p:cNvGrpSpPr/>
          <p:nvPr/>
        </p:nvGrpSpPr>
        <p:grpSpPr>
          <a:xfrm>
            <a:off x="-127818" y="0"/>
            <a:ext cx="12319514" cy="6653492"/>
            <a:chOff x="0" y="0"/>
            <a:chExt cx="12191695" cy="9039224"/>
          </a:xfrm>
        </p:grpSpPr>
        <p:sp>
          <p:nvSpPr>
            <p:cNvPr id="2" name="Rectangle 1"/>
            <p:cNvSpPr/>
            <p:nvPr/>
          </p:nvSpPr>
          <p:spPr>
            <a:xfrm>
              <a:off x="0" y="0"/>
              <a:ext cx="12191695" cy="857250"/>
            </a:xfrm>
            <a:prstGeom prst="rect">
              <a:avLst/>
            </a:prstGeom>
            <a:solidFill>
              <a:srgbClr val="0071C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666733" y="190499"/>
              <a:ext cx="10858228" cy="476249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392" b="1">
                  <a:solidFill>
                    <a:srgbClr val="FFFFFF"/>
                  </a:solidFill>
                </a:rPr>
                <a:t>Implementation Recommendations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66733" y="1143000"/>
              <a:ext cx="7676958" cy="3829050"/>
            </a:xfrm>
            <a:prstGeom prst="roundRect">
              <a:avLst>
                <a:gd name="adj" fmla="val 398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04852" y="1381124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E9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6" name="Picture 5" descr="image.png"/>
            <p:cNvPicPr>
              <a:picLocks noChangeAspect="1"/>
            </p:cNvPicPr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009624" y="1546777"/>
              <a:ext cx="266693" cy="144945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523961" y="1466849"/>
              <a:ext cx="2009724" cy="2952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35" b="1">
                  <a:solidFill>
                    <a:srgbClr val="0071CE"/>
                  </a:solidFill>
                </a:rPr>
                <a:t>SQL Query Structure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04852" y="2047874"/>
              <a:ext cx="7200719" cy="247649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Use </a:t>
              </a:r>
              <a:r>
                <a:rPr sz="1196" b="1">
                  <a:solidFill>
                    <a:srgbClr val="0071CE"/>
                  </a:solidFill>
                </a:rPr>
                <a:t>JOINs</a:t>
              </a:r>
              <a:r>
                <a:rPr sz="1196" b="0">
                  <a:solidFill>
                    <a:srgbClr val="333333"/>
                  </a:solidFill>
                </a:rPr>
                <a:t> for related data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9" name="Picture 8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04852" y="2061882"/>
              <a:ext cx="190495" cy="162485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904852" y="2409825"/>
              <a:ext cx="7200719" cy="247649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Apply </a:t>
              </a:r>
              <a:r>
                <a:rPr sz="1196" b="1">
                  <a:solidFill>
                    <a:srgbClr val="0071CE"/>
                  </a:solidFill>
                </a:rPr>
                <a:t>GROUP BY</a:t>
              </a:r>
              <a:r>
                <a:rPr sz="1196" b="0">
                  <a:solidFill>
                    <a:srgbClr val="333333"/>
                  </a:solidFill>
                </a:rPr>
                <a:t> with aggregate functions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11" name="Picture 10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04852" y="2423832"/>
              <a:ext cx="190495" cy="162485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904852" y="2771775"/>
              <a:ext cx="7200719" cy="247649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Create </a:t>
              </a:r>
              <a:r>
                <a:rPr sz="1196" b="1">
                  <a:solidFill>
                    <a:srgbClr val="0071CE"/>
                  </a:solidFill>
                </a:rPr>
                <a:t>CTEs</a:t>
              </a:r>
              <a:r>
                <a:rPr sz="1196" b="0">
                  <a:solidFill>
                    <a:srgbClr val="333333"/>
                  </a:solidFill>
                </a:rPr>
                <a:t> for complex queries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13" name="Picture 12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04852" y="2785782"/>
              <a:ext cx="190495" cy="162485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904852" y="3133724"/>
              <a:ext cx="7200719" cy="247649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Use </a:t>
              </a:r>
              <a:r>
                <a:rPr sz="1196" b="1">
                  <a:solidFill>
                    <a:srgbClr val="0071CE"/>
                  </a:solidFill>
                </a:rPr>
                <a:t>window functions</a:t>
              </a:r>
              <a:r>
                <a:rPr sz="1196" b="0">
                  <a:solidFill>
                    <a:srgbClr val="333333"/>
                  </a:solidFill>
                </a:rPr>
                <a:t> for rankings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15" name="Picture 14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04852" y="3147732"/>
              <a:ext cx="190495" cy="162485"/>
            </a:xfrm>
            <a:prstGeom prst="rect">
              <a:avLst/>
            </a:prstGeom>
          </p:spPr>
        </p:pic>
        <p:sp>
          <p:nvSpPr>
            <p:cNvPr id="16" name="Rounded Rectangle 15"/>
            <p:cNvSpPr/>
            <p:nvPr/>
          </p:nvSpPr>
          <p:spPr>
            <a:xfrm>
              <a:off x="904852" y="4267199"/>
              <a:ext cx="7200719" cy="371475"/>
            </a:xfrm>
            <a:prstGeom prst="roundRect">
              <a:avLst>
                <a:gd name="adj" fmla="val 0"/>
              </a:avLst>
            </a:prstGeom>
            <a:solidFill>
              <a:srgbClr val="F5F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ound Same Side Corner Rectangle 16"/>
            <p:cNvSpPr/>
            <p:nvPr/>
          </p:nvSpPr>
          <p:spPr>
            <a:xfrm rot="16200000">
              <a:off x="785155" y="4386896"/>
              <a:ext cx="371475" cy="13208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71C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04852" y="4267199"/>
              <a:ext cx="7200719" cy="371475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650"/>
                </a:spcBef>
                <a:spcAft>
                  <a:spcPts val="650"/>
                </a:spcAft>
              </a:pPr>
              <a:r>
                <a:rPr sz="956" b="0">
                  <a:solidFill>
                    <a:srgbClr val="333333"/>
                  </a:solidFill>
                </a:rPr>
                <a:t>SELECT product_line, SUM(total) AS revenue FROM sales GROUP BY product_line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581810" y="1143000"/>
              <a:ext cx="2943151" cy="3829050"/>
            </a:xfrm>
            <a:prstGeom prst="roundRect">
              <a:avLst>
                <a:gd name="adj" fmla="val 5177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819929" y="1381124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E9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21" name="Picture 20" descr="image.png"/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924701" y="1535181"/>
              <a:ext cx="266693" cy="16813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9439039" y="1466849"/>
              <a:ext cx="1752556" cy="2952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35" b="1">
                  <a:solidFill>
                    <a:srgbClr val="0071CE"/>
                  </a:solidFill>
                </a:rPr>
                <a:t>Data Visualization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819929" y="2047874"/>
              <a:ext cx="2466913" cy="495299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Bar charts</a:t>
              </a:r>
              <a:r>
                <a:rPr sz="1196" b="0">
                  <a:solidFill>
                    <a:srgbClr val="333333"/>
                  </a:solidFill>
                </a:rPr>
                <a:t> for product comparisons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24" name="Picture 23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19929" y="2061882"/>
              <a:ext cx="190495" cy="162485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8819929" y="2657475"/>
              <a:ext cx="2466913" cy="495299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Line charts</a:t>
              </a:r>
              <a:r>
                <a:rPr sz="1196" b="0">
                  <a:solidFill>
                    <a:srgbClr val="333333"/>
                  </a:solidFill>
                </a:rPr>
                <a:t> for sales trends over time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26" name="Picture 25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19929" y="2671482"/>
              <a:ext cx="190495" cy="162485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8819929" y="3267075"/>
              <a:ext cx="2466913" cy="495299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Pie charts</a:t>
              </a:r>
              <a:r>
                <a:rPr sz="1196" b="0">
                  <a:solidFill>
                    <a:srgbClr val="333333"/>
                  </a:solidFill>
                </a:rPr>
                <a:t> for category distributions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28" name="Picture 27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19929" y="3281082"/>
              <a:ext cx="190495" cy="162485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8819929" y="3876674"/>
              <a:ext cx="2466913" cy="495299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Heat maps</a:t>
              </a:r>
              <a:r>
                <a:rPr sz="1196" b="0">
                  <a:solidFill>
                    <a:srgbClr val="333333"/>
                  </a:solidFill>
                </a:rPr>
                <a:t> for time-based patterns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30" name="Picture 29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19929" y="3890682"/>
              <a:ext cx="190495" cy="162485"/>
            </a:xfrm>
            <a:prstGeom prst="rect">
              <a:avLst/>
            </a:prstGeom>
          </p:spPr>
        </p:pic>
        <p:sp>
          <p:nvSpPr>
            <p:cNvPr id="31" name="Rounded Rectangle 30"/>
            <p:cNvSpPr/>
            <p:nvPr/>
          </p:nvSpPr>
          <p:spPr>
            <a:xfrm>
              <a:off x="666733" y="5210174"/>
              <a:ext cx="7676958" cy="3829050"/>
            </a:xfrm>
            <a:prstGeom prst="roundRect">
              <a:avLst>
                <a:gd name="adj" fmla="val 398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04852" y="5448300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E9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33" name="Picture 32" descr="image.png"/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009624" y="5582064"/>
              <a:ext cx="266693" cy="208721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1523961" y="5543550"/>
              <a:ext cx="1971625" cy="2952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35" b="1">
                  <a:solidFill>
                    <a:srgbClr val="0071CE"/>
                  </a:solidFill>
                </a:rPr>
                <a:t>Analysis Techniques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4852" y="6115050"/>
              <a:ext cx="7200719" cy="247649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Cohort analysis</a:t>
              </a:r>
              <a:r>
                <a:rPr sz="1196" b="0">
                  <a:solidFill>
                    <a:srgbClr val="333333"/>
                  </a:solidFill>
                </a:rPr>
                <a:t> for customer segments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36" name="Picture 35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04852" y="6129057"/>
              <a:ext cx="190495" cy="162485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904852" y="6477000"/>
              <a:ext cx="7200719" cy="247649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Time series</a:t>
              </a:r>
              <a:r>
                <a:rPr sz="1196" b="0">
                  <a:solidFill>
                    <a:srgbClr val="333333"/>
                  </a:solidFill>
                </a:rPr>
                <a:t> for seasonal patterns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38" name="Picture 37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04852" y="6491007"/>
              <a:ext cx="190495" cy="162485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904852" y="6838949"/>
              <a:ext cx="7200719" cy="247649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Correlation</a:t>
              </a:r>
              <a:r>
                <a:rPr sz="1196" b="0">
                  <a:solidFill>
                    <a:srgbClr val="333333"/>
                  </a:solidFill>
                </a:rPr>
                <a:t> between variables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40" name="Picture 39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04852" y="6852957"/>
              <a:ext cx="190495" cy="162485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904852" y="7200900"/>
              <a:ext cx="7200719" cy="247649"/>
            </a:xfrm>
            <a:prstGeom prst="rect">
              <a:avLst/>
            </a:prstGeom>
            <a:noFill/>
          </p:spPr>
          <p:txBody>
            <a:bodyPr wrap="non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ABC analysis</a:t>
              </a:r>
              <a:r>
                <a:rPr sz="1196" b="0">
                  <a:solidFill>
                    <a:srgbClr val="333333"/>
                  </a:solidFill>
                </a:rPr>
                <a:t> for product categorization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42" name="Picture 41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04852" y="7214907"/>
              <a:ext cx="190495" cy="162485"/>
            </a:xfrm>
            <a:prstGeom prst="rect">
              <a:avLst/>
            </a:prstGeom>
          </p:spPr>
        </p:pic>
        <p:sp>
          <p:nvSpPr>
            <p:cNvPr id="43" name="Rounded Rectangle 42"/>
            <p:cNvSpPr/>
            <p:nvPr/>
          </p:nvSpPr>
          <p:spPr>
            <a:xfrm>
              <a:off x="8581810" y="5210174"/>
              <a:ext cx="2943151" cy="3829050"/>
            </a:xfrm>
            <a:prstGeom prst="roundRect">
              <a:avLst>
                <a:gd name="adj" fmla="val 5177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819929" y="5448300"/>
              <a:ext cx="476238" cy="476249"/>
            </a:xfrm>
            <a:prstGeom prst="roundRect">
              <a:avLst>
                <a:gd name="adj" fmla="val 50000"/>
              </a:avLst>
            </a:prstGeom>
            <a:solidFill>
              <a:srgbClr val="E9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45" name="Picture 44" descr="image.png"/>
            <p:cNvPicPr>
              <a:picLocks noChangeAspect="1"/>
            </p:cNvPicPr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8924701" y="5573367"/>
              <a:ext cx="266693" cy="226115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439039" y="5543550"/>
              <a:ext cx="1733506" cy="295274"/>
            </a:xfrm>
            <a:prstGeom prst="rect">
              <a:avLst/>
            </a:prstGeom>
            <a:noFill/>
          </p:spPr>
          <p:txBody>
            <a:bodyPr wrap="none" lIns="73152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35" b="1">
                  <a:solidFill>
                    <a:srgbClr val="0071CE"/>
                  </a:solidFill>
                </a:rPr>
                <a:t>Reporting Format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819929" y="6115050"/>
              <a:ext cx="2466913" cy="495299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Executive summary</a:t>
              </a:r>
              <a:r>
                <a:rPr sz="1196" b="0">
                  <a:solidFill>
                    <a:srgbClr val="333333"/>
                  </a:solidFill>
                </a:rPr>
                <a:t> with key findings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48" name="Picture 47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19929" y="6129057"/>
              <a:ext cx="190495" cy="162485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8819929" y="6724649"/>
              <a:ext cx="2466913" cy="495299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Branch-specific</a:t>
              </a:r>
              <a:r>
                <a:rPr sz="1196" b="0">
                  <a:solidFill>
                    <a:srgbClr val="333333"/>
                  </a:solidFill>
                </a:rPr>
                <a:t> performance reports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50" name="Picture 49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19929" y="6738657"/>
              <a:ext cx="190495" cy="162485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819929" y="7334249"/>
              <a:ext cx="2466913" cy="495299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Product line</a:t>
              </a:r>
              <a:r>
                <a:rPr sz="1196" b="0">
                  <a:solidFill>
                    <a:srgbClr val="333333"/>
                  </a:solidFill>
                </a:rPr>
                <a:t> performance dashboards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52" name="Picture 51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19929" y="7348257"/>
              <a:ext cx="190495" cy="162485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819929" y="7943850"/>
              <a:ext cx="2466913" cy="742950"/>
            </a:xfrm>
            <a:prstGeom prst="rect">
              <a:avLst/>
            </a:prstGeom>
            <a:noFill/>
          </p:spPr>
          <p:txBody>
            <a:bodyPr wrap="square" lIns="182880" tIns="54864" rIns="73152" bIns="54864" anchor="ctr">
              <a:spAutoFit/>
            </a:bodyPr>
            <a:lstStyle/>
            <a:p>
              <a:pPr algn="l">
                <a:spcBef>
                  <a:spcPts val="0"/>
                </a:spcBef>
                <a:spcAft>
                  <a:spcPts val="780"/>
                </a:spcAft>
              </a:pP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04"/>
                <a:t> 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  <a:r>
                <a:rPr sz="1196" b="0">
                  <a:solidFill>
                    <a:srgbClr val="333333"/>
                  </a:solidFill>
                </a:rPr>
                <a:t> </a:t>
              </a:r>
              <a:r>
                <a:rPr sz="1196" b="1">
                  <a:solidFill>
                    <a:srgbClr val="0071CE"/>
                  </a:solidFill>
                </a:rPr>
                <a:t>Actionable recommendations</a:t>
              </a:r>
              <a:r>
                <a:rPr sz="1196" b="0">
                  <a:solidFill>
                    <a:srgbClr val="333333"/>
                  </a:solidFill>
                </a:rPr>
                <a:t> based on insights </a:t>
              </a:r>
              <a:r>
                <a:rPr sz="956" b="0">
                  <a:solidFill>
                    <a:srgbClr val="333333"/>
                  </a:solidFill>
                </a:rPr>
                <a:t> </a:t>
              </a:r>
            </a:p>
          </p:txBody>
        </p:sp>
        <p:pic>
          <p:nvPicPr>
            <p:cNvPr id="54" name="Picture 53" descr="image.png"/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819929" y="7957857"/>
              <a:ext cx="190495" cy="16248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5725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66733" y="190499"/>
            <a:ext cx="10858228" cy="4762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</a:rPr>
              <a:t>Expected Outcomes and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6733" y="1143000"/>
            <a:ext cx="3457488" cy="377190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4852" y="1381124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09624" y="1519237"/>
            <a:ext cx="266693" cy="200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23961" y="1466849"/>
            <a:ext cx="1523961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71CE"/>
                </a:solidFill>
              </a:rPr>
              <a:t>Insights to 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52" y="2047874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Top-performing</a:t>
            </a:r>
            <a:r>
              <a:rPr sz="1196" b="0">
                <a:solidFill>
                  <a:srgbClr val="333333"/>
                </a:solidFill>
              </a:rPr>
              <a:t> branches and product lines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2" y="2095499"/>
            <a:ext cx="190495" cy="952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4852" y="2686050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Peak sales</a:t>
            </a:r>
            <a:r>
              <a:rPr sz="1196" b="0">
                <a:solidFill>
                  <a:srgbClr val="333333"/>
                </a:solidFill>
              </a:rPr>
              <a:t> periods by time, day, and month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2" y="2733674"/>
            <a:ext cx="190495" cy="9524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52" y="3324225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Customer behavior</a:t>
            </a:r>
            <a:r>
              <a:rPr sz="1196" b="0">
                <a:solidFill>
                  <a:srgbClr val="333333"/>
                </a:solidFill>
              </a:rPr>
              <a:t> patterns and preferences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2" y="3371850"/>
            <a:ext cx="190495" cy="952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4852" y="3962399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Revenue drivers</a:t>
            </a:r>
            <a:r>
              <a:rPr sz="1196" b="0">
                <a:solidFill>
                  <a:srgbClr val="333333"/>
                </a:solidFill>
              </a:rPr>
              <a:t> and profit margins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4852" y="4010024"/>
            <a:ext cx="190495" cy="95249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362340" y="1143000"/>
            <a:ext cx="3457488" cy="377190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600459" y="1381124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5232" y="1514889"/>
            <a:ext cx="266693" cy="2087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9569" y="1466849"/>
            <a:ext cx="1847803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71CE"/>
                </a:solidFill>
              </a:rPr>
              <a:t>Business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0459" y="2047874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Inventory optimization</a:t>
            </a:r>
            <a:r>
              <a:rPr sz="1196" b="0">
                <a:solidFill>
                  <a:srgbClr val="333333"/>
                </a:solidFill>
              </a:rPr>
              <a:t> for each branch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0459" y="2095499"/>
            <a:ext cx="190495" cy="9524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600459" y="2686050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Targeted promotions</a:t>
            </a:r>
            <a:r>
              <a:rPr sz="1196" b="0">
                <a:solidFill>
                  <a:srgbClr val="333333"/>
                </a:solidFill>
              </a:rPr>
              <a:t> for specific product lines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0459" y="2733674"/>
            <a:ext cx="190495" cy="952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600459" y="3324225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Staff scheduling</a:t>
            </a:r>
            <a:r>
              <a:rPr sz="1196" b="0">
                <a:solidFill>
                  <a:srgbClr val="333333"/>
                </a:solidFill>
              </a:rPr>
              <a:t> based on peak periods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0459" y="3371850"/>
            <a:ext cx="190495" cy="9524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600459" y="3962399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Marketing strategies</a:t>
            </a:r>
            <a:r>
              <a:rPr sz="1196" b="0">
                <a:solidFill>
                  <a:srgbClr val="333333"/>
                </a:solidFill>
              </a:rPr>
              <a:t> for customer segments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0459" y="4010024"/>
            <a:ext cx="190495" cy="95249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067473" y="1143000"/>
            <a:ext cx="3457488" cy="3771900"/>
          </a:xfrm>
          <a:prstGeom prst="roundRect">
            <a:avLst>
              <a:gd name="adj" fmla="val 440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305592" y="1381124"/>
            <a:ext cx="476238" cy="476249"/>
          </a:xfrm>
          <a:prstGeom prst="roundRect">
            <a:avLst>
              <a:gd name="adj" fmla="val 50000"/>
            </a:avLst>
          </a:prstGeom>
          <a:solidFill>
            <a:srgbClr val="E9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410364" y="1535181"/>
            <a:ext cx="266693" cy="1681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924701" y="1466849"/>
            <a:ext cx="1038199" cy="2952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0071CE"/>
                </a:solidFill>
              </a:rPr>
              <a:t>Next 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5592" y="2047874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Implement</a:t>
            </a:r>
            <a:r>
              <a:rPr sz="1196" b="0">
                <a:solidFill>
                  <a:srgbClr val="333333"/>
                </a:solidFill>
              </a:rPr>
              <a:t> SQL queries for analysis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05592" y="2095499"/>
            <a:ext cx="190495" cy="95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305592" y="2686050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Create dashboards</a:t>
            </a:r>
            <a:r>
              <a:rPr sz="1196" b="0">
                <a:solidFill>
                  <a:srgbClr val="333333"/>
                </a:solidFill>
              </a:rPr>
              <a:t> for visualization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05592" y="2733674"/>
            <a:ext cx="190495" cy="9524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05592" y="3324225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Validate findings</a:t>
            </a:r>
            <a:r>
              <a:rPr sz="1196" b="0">
                <a:solidFill>
                  <a:srgbClr val="333333"/>
                </a:solidFill>
              </a:rPr>
              <a:t> with stakeholders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05592" y="3371850"/>
            <a:ext cx="190495" cy="95249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305592" y="3962399"/>
            <a:ext cx="2981250" cy="495299"/>
          </a:xfrm>
          <a:prstGeom prst="rect">
            <a:avLst/>
          </a:prstGeom>
          <a:noFill/>
        </p:spPr>
        <p:txBody>
          <a:bodyPr wrap="square" lIns="182880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975"/>
              </a:spcAft>
            </a:pPr>
            <a:r>
              <a:rPr sz="956" b="0">
                <a:solidFill>
                  <a:srgbClr val="333333"/>
                </a:solidFill>
              </a:rPr>
              <a:t> </a:t>
            </a:r>
            <a:r>
              <a:rPr sz="1104"/>
              <a:t>  </a:t>
            </a:r>
            <a:r>
              <a:rPr sz="956" b="0">
                <a:solidFill>
                  <a:srgbClr val="333333"/>
                </a:solidFill>
              </a:rPr>
              <a:t> </a:t>
            </a:r>
            <a:r>
              <a:rPr sz="1196" b="0">
                <a:solidFill>
                  <a:srgbClr val="333333"/>
                </a:solidFill>
              </a:rPr>
              <a:t> </a:t>
            </a:r>
            <a:r>
              <a:rPr sz="1196" b="1">
                <a:solidFill>
                  <a:srgbClr val="0071CE"/>
                </a:solidFill>
              </a:rPr>
              <a:t>Develop action plan</a:t>
            </a:r>
            <a:r>
              <a:rPr sz="1196" b="0">
                <a:solidFill>
                  <a:srgbClr val="333333"/>
                </a:solidFill>
              </a:rPr>
              <a:t> based on insights </a:t>
            </a:r>
            <a:r>
              <a:rPr sz="956" b="0">
                <a:solidFill>
                  <a:srgbClr val="333333"/>
                </a:solidFill>
              </a:rPr>
              <a:t> 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05592" y="4010024"/>
            <a:ext cx="190495" cy="95249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66733" y="5153024"/>
            <a:ext cx="10858228" cy="1419225"/>
          </a:xfrm>
          <a:prstGeom prst="roundRect">
            <a:avLst>
              <a:gd name="adj" fmla="val 1073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4852" y="5581649"/>
            <a:ext cx="571485" cy="571500"/>
          </a:xfrm>
          <a:prstGeom prst="roundRect">
            <a:avLst>
              <a:gd name="adj" fmla="val 50000"/>
            </a:avLst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28674" y="5719551"/>
            <a:ext cx="333366" cy="286171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714457" y="5391150"/>
            <a:ext cx="9572385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1554" b="1">
                <a:solidFill>
                  <a:srgbClr val="0071CE"/>
                </a:solidFill>
              </a:rPr>
              <a:t>Conclusion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14457" y="5800725"/>
            <a:ext cx="9572385" cy="53339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333333"/>
                </a:solidFill>
              </a:rPr>
              <a:t> This Walmart sales data analysis project will provide </a:t>
            </a:r>
            <a:r>
              <a:rPr sz="1196" b="1">
                <a:solidFill>
                  <a:srgbClr val="0071CE"/>
                </a:solidFill>
              </a:rPr>
              <a:t>actionable insights</a:t>
            </a:r>
            <a:r>
              <a:rPr sz="1196" b="0">
                <a:solidFill>
                  <a:srgbClr val="333333"/>
                </a:solidFill>
              </a:rPr>
              <a:t> to optimize sales strategies, improve customer experience, and drive revenue growth across all three branches through </a:t>
            </a:r>
            <a:r>
              <a:rPr sz="1196" b="1">
                <a:solidFill>
                  <a:srgbClr val="0071CE"/>
                </a:solidFill>
              </a:rPr>
              <a:t>data-driven decision making</a:t>
            </a:r>
            <a:r>
              <a:rPr sz="1196" b="0">
                <a:solidFill>
                  <a:srgbClr val="333333"/>
                </a:solidFill>
              </a:rPr>
              <a:t>.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827</Words>
  <Application>Microsoft Office PowerPoint</Application>
  <PresentationFormat>Widescreen</PresentationFormat>
  <Paragraphs>126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HP</cp:lastModifiedBy>
  <cp:revision>2</cp:revision>
  <dcterms:created xsi:type="dcterms:W3CDTF">2013-01-27T09:14:16Z</dcterms:created>
  <dcterms:modified xsi:type="dcterms:W3CDTF">2025-12-19T14:09:47Z</dcterms:modified>
  <cp:category/>
</cp:coreProperties>
</file>