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39.png"/><Relationship Id="rId6" Type="http://schemas.openxmlformats.org/officeDocument/2006/relationships/image" Target="../media/image44.png"/><Relationship Id="rId7" Type="http://schemas.openxmlformats.org/officeDocument/2006/relationships/image" Target="../media/image4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366">
                  <a:alpha val="85000"/>
                </a:srgbClr>
              </a:gs>
              <a:gs pos="100000">
                <a:srgbClr val="003366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704932" y="2266950"/>
            <a:ext cx="8781830" cy="1371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1950"/>
              </a:spcAft>
            </a:pPr>
            <a:r>
              <a:rPr sz="3588" b="1">
                <a:solidFill>
                  <a:srgbClr val="FFFFFF"/>
                </a:solidFill>
              </a:rPr>
              <a:t>Walmart Sales Data Analysis:</a:t>
            </a:r>
            <a:r>
              <a:rPr sz="1104"/>
              <a:t>
</a:t>
            </a:r>
            <a:r>
              <a:rPr sz="3588" b="1">
                <a:solidFill>
                  <a:srgbClr val="FFC220"/>
                </a:solidFill>
              </a:rPr>
              <a:t>Project Overview and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32" y="3924299"/>
            <a:ext cx="878183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1435" b="0">
                <a:solidFill>
                  <a:srgbClr val="FFFFFF"/>
                </a:solidFill>
              </a:rPr>
              <a:t>Exploring sales trends, product performance, and customer behavior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238619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381124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71CE"/>
                </a:solidFill>
              </a:rPr>
              <a:t> Dataset Source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431607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52" y="1790700"/>
            <a:ext cx="476238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Kaggle </a:t>
            </a:r>
            <a:r>
              <a:rPr sz="1196" b="1">
                <a:solidFill>
                  <a:srgbClr val="0071CE"/>
                </a:solidFill>
              </a:rPr>
              <a:t>Walmart Sales Forecasting Competition</a:t>
            </a:r>
            <a:r>
              <a:rPr sz="1196" b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505074"/>
            <a:ext cx="5238619" cy="1685925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852" y="2743200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71CE"/>
                </a:solidFill>
              </a:rPr>
              <a:t> Dataset Structure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787967"/>
            <a:ext cx="228594" cy="17716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04852" y="3224212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694" y="3152775"/>
            <a:ext cx="32669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1CE"/>
                </a:solidFill>
              </a:rPr>
              <a:t>17 columns</a:t>
            </a:r>
            <a:r>
              <a:rPr sz="1196" b="0">
                <a:solidFill>
                  <a:srgbClr val="333333"/>
                </a:solidFill>
              </a:rPr>
              <a:t> with sales transaction details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612832"/>
            <a:ext cx="228594" cy="1657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8694" y="3552825"/>
            <a:ext cx="20954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71CE"/>
                </a:solidFill>
              </a:rPr>
              <a:t>1000 rows</a:t>
            </a:r>
            <a:r>
              <a:rPr sz="1196" b="0">
                <a:solidFill>
                  <a:srgbClr val="333333"/>
                </a:solidFill>
              </a:rPr>
              <a:t> of sales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4381499"/>
            <a:ext cx="5238619" cy="2085975"/>
          </a:xfrm>
          <a:prstGeom prst="roundRect">
            <a:avLst>
              <a:gd name="adj" fmla="val 730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852" y="46196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71CE"/>
                </a:solidFill>
              </a:rPr>
              <a:t> Key Features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4655820"/>
            <a:ext cx="228594" cy="194309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" y="5089207"/>
            <a:ext cx="228594" cy="1657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28694" y="5029200"/>
            <a:ext cx="293362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Three Walmart branches in </a:t>
            </a:r>
            <a:r>
              <a:rPr sz="1196" b="1">
                <a:solidFill>
                  <a:srgbClr val="0071CE"/>
                </a:solidFill>
              </a:rPr>
              <a:t>Myanmar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5474969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28694" y="5429250"/>
            <a:ext cx="329556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Locations: </a:t>
            </a:r>
            <a:r>
              <a:rPr sz="1196" b="1">
                <a:solidFill>
                  <a:srgbClr val="0071CE"/>
                </a:solidFill>
              </a:rPr>
              <a:t>Mandalay, Yangon, Naypyitaw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4852" y="5875019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28694" y="5829300"/>
            <a:ext cx="366703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Multiple product lines and customer segments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3036" y="2609850"/>
            <a:ext cx="4714757" cy="2581275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4852" y="1381124"/>
            <a:ext cx="10381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71CE"/>
                </a:solidFill>
              </a:rPr>
              <a:t> Main Goal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04852" y="1417320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04852" y="1790700"/>
            <a:ext cx="10381990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Gain insights into Walmart sales data to understand factors affecting sales across different branches and </a:t>
            </a:r>
            <a:r>
              <a:rPr sz="1196" b="1">
                <a:solidFill>
                  <a:srgbClr val="0071CE"/>
                </a:solidFill>
              </a:rPr>
              <a:t>optimize sales strategies</a:t>
            </a:r>
            <a:r>
              <a:rPr sz="1196" b="0">
                <a:solidFill>
                  <a:srgbClr val="333333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2600325"/>
            <a:ext cx="3495587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219269" y="2820590"/>
            <a:ext cx="380990" cy="3214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28" y="3314700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Product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28" y="3724274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Identify top-performing product lines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373533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28" y="4057650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Analyze revenue by product category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4068711"/>
            <a:ext cx="171445" cy="14932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7228" y="4391025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Determine product improvement areas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" y="4402086"/>
            <a:ext cx="171445" cy="1493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352816" y="2600325"/>
            <a:ext cx="3495587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05352" y="2880121"/>
            <a:ext cx="380990" cy="2024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43311" y="3314700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Sales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3311" y="3724274"/>
            <a:ext cx="3114597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Evaluate sales trends by time/day/month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43311" y="3735336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43311" y="4276725"/>
            <a:ext cx="3114597" cy="43814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Measure effectiveness of sales strategies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43311" y="428778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43311" y="4829175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Identify peak sales periods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43311" y="4840236"/>
            <a:ext cx="171445" cy="149327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029374" y="2600325"/>
            <a:ext cx="3495587" cy="2752725"/>
          </a:xfrm>
          <a:prstGeom prst="roundRect">
            <a:avLst>
              <a:gd name="adj" fmla="val 55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91435" y="2865239"/>
            <a:ext cx="380990" cy="2321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9869" y="3314700"/>
            <a:ext cx="31145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Customer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9869" y="3724274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Identify customer segments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3735336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19869" y="4057650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Analyze purchase patterns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40687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19869" y="4391025"/>
            <a:ext cx="3114597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Evaluate customer profitability</a:t>
            </a:r>
            <a:r>
              <a:rPr sz="107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19869" y="4402086"/>
            <a:ext cx="171445" cy="149327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66733" y="5638799"/>
            <a:ext cx="10858228" cy="1609724"/>
          </a:xfrm>
          <a:prstGeom prst="roundRect">
            <a:avLst>
              <a:gd name="adj" fmla="val 946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4852" y="5876925"/>
            <a:ext cx="103819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71CE"/>
                </a:solidFill>
              </a:rPr>
              <a:t> Expected Outcomes &amp; Business Value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" y="5924549"/>
            <a:ext cx="228594" cy="1714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904852" y="64103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28674" y="655129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523961" y="6286500"/>
            <a:ext cx="2714557" cy="7239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1">
                <a:solidFill>
                  <a:srgbClr val="0071CE"/>
                </a:solidFill>
              </a:rPr>
              <a:t>Data-driven decisions</a:t>
            </a:r>
            <a:r>
              <a:rPr sz="1076" b="0">
                <a:solidFill>
                  <a:srgbClr val="333333"/>
                </a:solidFill>
              </a:rPr>
              <a:t> for inventory management and product assortment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29014" y="64103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552836" y="6567011"/>
            <a:ext cx="228594" cy="16287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048123" y="6410324"/>
            <a:ext cx="271455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1">
                <a:solidFill>
                  <a:srgbClr val="0071CE"/>
                </a:solidFill>
              </a:rPr>
              <a:t>Optimized sales strategies</a:t>
            </a:r>
            <a:r>
              <a:rPr sz="1076" b="0">
                <a:solidFill>
                  <a:srgbClr val="333333"/>
                </a:solidFill>
              </a:rPr>
              <a:t> tailored to each branch's performance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53176" y="64103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076998" y="6585584"/>
            <a:ext cx="228594" cy="12572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72285" y="6410324"/>
            <a:ext cx="2714557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</a:t>
            </a:r>
            <a:r>
              <a:rPr sz="1076" b="1">
                <a:solidFill>
                  <a:srgbClr val="0071CE"/>
                </a:solidFill>
              </a:rPr>
              <a:t>Increased revenue</a:t>
            </a:r>
            <a:r>
              <a:rPr sz="1076" b="0">
                <a:solidFill>
                  <a:srgbClr val="333333"/>
                </a:solidFill>
              </a:rPr>
              <a:t> through targeted marketing and promotions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Analysis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508" y="11430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3848003" y="1345406"/>
            <a:ext cx="380990" cy="3571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6538" y="2000250"/>
            <a:ext cx="1123921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71CE"/>
                </a:solidFill>
              </a:rPr>
              <a:t>Data Wrangling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3391" y="11430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33886" y="1372195"/>
            <a:ext cx="380990" cy="3036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1450" y="2000250"/>
            <a:ext cx="1485862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71CE"/>
                </a:solidFill>
              </a:rPr>
              <a:t>Feature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0739" y="1143000"/>
            <a:ext cx="761980" cy="76199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91235" y="1381124"/>
            <a:ext cx="380990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8303" y="2000250"/>
            <a:ext cx="1866853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71CE"/>
                </a:solidFill>
              </a:rPr>
              <a:t>Exploratory Data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2505074"/>
            <a:ext cx="3457488" cy="4190999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4852" y="27432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852" y="2743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52" y="32670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1CE"/>
                </a:solidFill>
              </a:rPr>
              <a:t> Data Wrangling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" y="3285347"/>
            <a:ext cx="285742" cy="26825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4852" y="37780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90595" y="3752849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Build database</a:t>
            </a:r>
            <a:r>
              <a:rPr sz="1196" b="0">
                <a:solidFill>
                  <a:srgbClr val="333333"/>
                </a:solidFill>
              </a:rPr>
              <a:t> using SQL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" y="4182035"/>
            <a:ext cx="190495" cy="15127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90595" y="4162424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Create tables</a:t>
            </a:r>
            <a:r>
              <a:rPr sz="1196" b="0">
                <a:solidFill>
                  <a:srgbClr val="333333"/>
                </a:solidFill>
              </a:rPr>
              <a:t> with proper data types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04852" y="4863913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90595" y="4838699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Handle null values</a:t>
            </a:r>
            <a:r>
              <a:rPr sz="1196" b="0">
                <a:solidFill>
                  <a:srgbClr val="333333"/>
                </a:solidFill>
              </a:rPr>
              <a:t> - none present in dataset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4852" y="5528982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90595" y="5514975"/>
            <a:ext cx="26288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Insert data</a:t>
            </a:r>
            <a:r>
              <a:rPr sz="1196" b="0">
                <a:solidFill>
                  <a:srgbClr val="333333"/>
                </a:solidFill>
              </a:rPr>
              <a:t> into structured tables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2340" y="2505074"/>
            <a:ext cx="3457488" cy="4190999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00459" y="27432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0459" y="2743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0459" y="32670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1CE"/>
                </a:solidFill>
              </a:rPr>
              <a:t> Feature Engineering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600459" y="3304300"/>
            <a:ext cx="285742" cy="23034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600459" y="37668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886202" y="3752849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time_of_day</a:t>
            </a:r>
            <a:r>
              <a:rPr sz="1196" b="0">
                <a:solidFill>
                  <a:srgbClr val="333333"/>
                </a:solidFill>
              </a:rPr>
              <a:t> column (Morning, Afternoon, Evening)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4600459" y="4441731"/>
            <a:ext cx="190495" cy="16528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86202" y="4429125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day_name</a:t>
            </a:r>
            <a:r>
              <a:rPr sz="1196" b="0">
                <a:solidFill>
                  <a:srgbClr val="333333"/>
                </a:solidFill>
              </a:rPr>
              <a:t> column (Mon, Tue, Wed, etc.)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4600459" y="51194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86202" y="5105400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month_name</a:t>
            </a:r>
            <a:r>
              <a:rPr sz="1196" b="0">
                <a:solidFill>
                  <a:srgbClr val="333333"/>
                </a:solidFill>
              </a:rPr>
              <a:t> column (Jan, Feb, Mar)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4600459" y="579568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886202" y="5781674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product_category</a:t>
            </a:r>
            <a:r>
              <a:rPr sz="1196" b="0">
                <a:solidFill>
                  <a:srgbClr val="333333"/>
                </a:solidFill>
              </a:rPr>
              <a:t> column (Good/Bad based on sales)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67473" y="2505074"/>
            <a:ext cx="3457488" cy="4190999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05592" y="27432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5592" y="27432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5592" y="3267075"/>
            <a:ext cx="298125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71CE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71CE"/>
                </a:solidFill>
              </a:rPr>
              <a:t> Exploratory Data Analysis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05592" y="3311589"/>
            <a:ext cx="285742" cy="21577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05592" y="3766857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91335" y="3752849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Product Analysis</a:t>
            </a:r>
            <a:r>
              <a:rPr sz="1196" b="0">
                <a:solidFill>
                  <a:srgbClr val="333333"/>
                </a:solidFill>
              </a:rPr>
              <a:t> - top performers, revenue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8305592" y="4471147"/>
            <a:ext cx="190495" cy="10645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591335" y="4429125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Sales Analysis</a:t>
            </a:r>
            <a:r>
              <a:rPr sz="1196" b="0">
                <a:solidFill>
                  <a:srgbClr val="333333"/>
                </a:solidFill>
              </a:rPr>
              <a:t> - trends, peak periods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7">
            <a:alphaModFix amt="100000"/>
          </a:blip>
          <a:stretch>
            <a:fillRect/>
          </a:stretch>
        </p:blipFill>
        <p:spPr>
          <a:xfrm>
            <a:off x="8305592" y="5139017"/>
            <a:ext cx="190495" cy="1232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591335" y="5105400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Customer Analysis</a:t>
            </a:r>
            <a:r>
              <a:rPr sz="1196" b="0">
                <a:solidFill>
                  <a:srgbClr val="333333"/>
                </a:solidFill>
              </a:rPr>
              <a:t> - segments, behavior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8">
            <a:alphaModFix amt="100000"/>
          </a:blip>
          <a:stretch>
            <a:fillRect/>
          </a:stretch>
        </p:blipFill>
        <p:spPr>
          <a:xfrm>
            <a:off x="8305592" y="5804086"/>
            <a:ext cx="190495" cy="14567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591335" y="5781674"/>
            <a:ext cx="269550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Revenue &amp; Profit</a:t>
            </a:r>
            <a:r>
              <a:rPr sz="1196" b="0">
                <a:solidFill>
                  <a:srgbClr val="333333"/>
                </a:solidFill>
              </a:rPr>
              <a:t> calculations and metrics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Key Business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314817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7228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62000" y="1458567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76338" y="1428750"/>
            <a:ext cx="178113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Generic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95262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How many </a:t>
            </a:r>
            <a:r>
              <a:rPr sz="1076" b="1">
                <a:solidFill>
                  <a:srgbClr val="0071CE"/>
                </a:solidFill>
              </a:rPr>
              <a:t>unique cities</a:t>
            </a:r>
            <a:r>
              <a:rPr sz="1076" b="0">
                <a:solidFill>
                  <a:srgbClr val="333333"/>
                </a:solidFill>
              </a:rPr>
              <a:t> in the dataset?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994104"/>
            <a:ext cx="171445" cy="884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28" y="228600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In which city is each </a:t>
            </a:r>
            <a:r>
              <a:rPr sz="1076" b="1">
                <a:solidFill>
                  <a:srgbClr val="0071CE"/>
                </a:solidFill>
              </a:rPr>
              <a:t>branch</a:t>
            </a:r>
            <a:r>
              <a:rPr sz="1076" b="0">
                <a:solidFill>
                  <a:srgbClr val="333333"/>
                </a:solidFill>
              </a:rPr>
              <a:t> located?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327479"/>
            <a:ext cx="171445" cy="8849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10144" y="1143000"/>
            <a:ext cx="5314817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639" y="13335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1458567"/>
            <a:ext cx="266693" cy="2261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29274" y="1428750"/>
            <a:ext cx="163825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Product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639" y="195262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How many </a:t>
            </a:r>
            <a:r>
              <a:rPr sz="1076" b="1">
                <a:solidFill>
                  <a:srgbClr val="0071CE"/>
                </a:solidFill>
              </a:rPr>
              <a:t>unique product lines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1994104"/>
            <a:ext cx="171445" cy="884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639" y="228600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What is the </a:t>
            </a:r>
            <a:r>
              <a:rPr sz="1076" b="1">
                <a:solidFill>
                  <a:srgbClr val="0071CE"/>
                </a:solidFill>
              </a:rPr>
              <a:t>most common payment method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2327479"/>
            <a:ext cx="171445" cy="8849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639" y="262890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What is the </a:t>
            </a:r>
            <a:r>
              <a:rPr sz="1076" b="1">
                <a:solidFill>
                  <a:srgbClr val="0071CE"/>
                </a:solidFill>
              </a:rPr>
              <a:t>most selling product line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2670379"/>
            <a:ext cx="171445" cy="8849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639" y="29622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What is the </a:t>
            </a:r>
            <a:r>
              <a:rPr sz="1076" b="1">
                <a:solidFill>
                  <a:srgbClr val="0071CE"/>
                </a:solidFill>
              </a:rPr>
              <a:t>total revenue by month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3003754"/>
            <a:ext cx="171445" cy="8849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400639" y="33051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product line had the </a:t>
            </a:r>
            <a:r>
              <a:rPr sz="1076" b="1">
                <a:solidFill>
                  <a:srgbClr val="0071CE"/>
                </a:solidFill>
              </a:rPr>
              <a:t>largest revenue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3346654"/>
            <a:ext cx="171445" cy="8849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66733" y="4067174"/>
            <a:ext cx="5314817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7228" y="42576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2000" y="4423327"/>
            <a:ext cx="266693" cy="14494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476338" y="4343400"/>
            <a:ext cx="137156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Sales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228" y="487680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Number of sales made in each </a:t>
            </a:r>
            <a:r>
              <a:rPr sz="1076" b="1">
                <a:solidFill>
                  <a:srgbClr val="0071CE"/>
                </a:solidFill>
              </a:rPr>
              <a:t>time of day</a:t>
            </a:r>
            <a:r>
              <a:rPr sz="1076" b="0">
                <a:solidFill>
                  <a:srgbClr val="333333"/>
                </a:solidFill>
              </a:rPr>
              <a:t> per weekday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4918279"/>
            <a:ext cx="171445" cy="884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7228" y="52101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</a:t>
            </a:r>
            <a:r>
              <a:rPr sz="1076" b="1">
                <a:solidFill>
                  <a:srgbClr val="0071CE"/>
                </a:solidFill>
              </a:rPr>
              <a:t>customer type</a:t>
            </a:r>
            <a:r>
              <a:rPr sz="1076" b="0">
                <a:solidFill>
                  <a:srgbClr val="333333"/>
                </a:solidFill>
              </a:rPr>
              <a:t> brings the most revenue?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5251654"/>
            <a:ext cx="171445" cy="8849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57228" y="55530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city has the largest </a:t>
            </a:r>
            <a:r>
              <a:rPr sz="1076" b="1">
                <a:solidFill>
                  <a:srgbClr val="0071CE"/>
                </a:solidFill>
              </a:rPr>
              <a:t>tax percent/VAT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5594554"/>
            <a:ext cx="171445" cy="884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57228" y="588645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customer type pays the most in </a:t>
            </a:r>
            <a:r>
              <a:rPr sz="1076" b="1">
                <a:solidFill>
                  <a:srgbClr val="0071CE"/>
                </a:solidFill>
              </a:rPr>
              <a:t>VAT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5927929"/>
            <a:ext cx="171445" cy="8849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210144" y="4067174"/>
            <a:ext cx="5314817" cy="2686050"/>
          </a:xfrm>
          <a:prstGeom prst="roundRect">
            <a:avLst>
              <a:gd name="adj" fmla="val 56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639" y="42576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4411731"/>
            <a:ext cx="266693" cy="1681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29274" y="4343400"/>
            <a:ext cx="18001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Customer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639" y="487680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How many </a:t>
            </a:r>
            <a:r>
              <a:rPr sz="1076" b="1">
                <a:solidFill>
                  <a:srgbClr val="0071CE"/>
                </a:solidFill>
              </a:rPr>
              <a:t>unique customer types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4918279"/>
            <a:ext cx="171445" cy="8849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400639" y="52101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What is the </a:t>
            </a:r>
            <a:r>
              <a:rPr sz="1076" b="1">
                <a:solidFill>
                  <a:srgbClr val="0071CE"/>
                </a:solidFill>
              </a:rPr>
              <a:t>most common customer type</a:t>
            </a:r>
            <a:r>
              <a:rPr sz="1076" b="0">
                <a:solidFill>
                  <a:srgbClr val="333333"/>
                </a:solidFill>
              </a:rPr>
              <a:t>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5251654"/>
            <a:ext cx="171445" cy="8849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00639" y="5553074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What is the </a:t>
            </a:r>
            <a:r>
              <a:rPr sz="1076" b="1">
                <a:solidFill>
                  <a:srgbClr val="0071CE"/>
                </a:solidFill>
              </a:rPr>
              <a:t>gender distribution</a:t>
            </a:r>
            <a:r>
              <a:rPr sz="1076" b="0">
                <a:solidFill>
                  <a:srgbClr val="333333"/>
                </a:solidFill>
              </a:rPr>
              <a:t> per branch?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5594554"/>
            <a:ext cx="171445" cy="8849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400639" y="588645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</a:t>
            </a:r>
            <a:r>
              <a:rPr sz="1076" b="1">
                <a:solidFill>
                  <a:srgbClr val="0071CE"/>
                </a:solidFill>
              </a:rPr>
              <a:t>time of day</a:t>
            </a:r>
            <a:r>
              <a:rPr sz="1076" b="0">
                <a:solidFill>
                  <a:srgbClr val="333333"/>
                </a:solidFill>
              </a:rPr>
              <a:t> do customers give most ratings?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5927929"/>
            <a:ext cx="171445" cy="8849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00639" y="6229350"/>
            <a:ext cx="4933826" cy="219074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076" b="0">
                <a:solidFill>
                  <a:srgbClr val="333333"/>
                </a:solidFill>
              </a:rPr>
              <a:t>Which </a:t>
            </a:r>
            <a:r>
              <a:rPr sz="1076" b="1">
                <a:solidFill>
                  <a:srgbClr val="0071CE"/>
                </a:solidFill>
              </a:rPr>
              <a:t>day of the week</a:t>
            </a:r>
            <a:r>
              <a:rPr sz="1076" b="0">
                <a:solidFill>
                  <a:srgbClr val="333333"/>
                </a:solidFill>
              </a:rPr>
              <a:t> has the best avg ratings?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00639" y="6270829"/>
            <a:ext cx="171445" cy="88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Retail Analytics 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8179" y="13144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42951" y="1452562"/>
            <a:ext cx="266693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57288" y="1314450"/>
            <a:ext cx="53814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71CE"/>
                </a:solidFill>
              </a:rPr>
              <a:t>Create Objectives and Goals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57288" y="1657350"/>
            <a:ext cx="53814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Set clear objectives </a:t>
            </a:r>
            <a:r>
              <a:rPr sz="1076" b="1">
                <a:solidFill>
                  <a:srgbClr val="0071CE"/>
                </a:solidFill>
              </a:rPr>
              <a:t>before</a:t>
            </a:r>
            <a:r>
              <a:rPr sz="1076" b="0">
                <a:solidFill>
                  <a:srgbClr val="333333"/>
                </a:solidFill>
              </a:rPr>
              <a:t> analyzing data. Focus on specific goals like increasing basket size, market share, or customer loyalty.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2466975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8179" y="26384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772189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7288" y="2638425"/>
            <a:ext cx="53814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71CE"/>
                </a:solidFill>
              </a:rPr>
              <a:t>Use Historical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7288" y="2981325"/>
            <a:ext cx="53814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Examine both </a:t>
            </a:r>
            <a:r>
              <a:rPr sz="1076" b="1">
                <a:solidFill>
                  <a:srgbClr val="0071CE"/>
                </a:solidFill>
              </a:rPr>
              <a:t>micro and macro trends</a:t>
            </a:r>
            <a:r>
              <a:rPr sz="1076" b="0">
                <a:solidFill>
                  <a:srgbClr val="333333"/>
                </a:solidFill>
              </a:rPr>
              <a:t> in customer behavior across daily, weekly, monthly, and seasonal patterns.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3790949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179" y="3962399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4075871"/>
            <a:ext cx="266693" cy="2493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57288" y="3962399"/>
            <a:ext cx="53814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71CE"/>
                </a:solidFill>
              </a:rPr>
              <a:t>Compare Metrics and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7288" y="4305300"/>
            <a:ext cx="53814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Avoid analyzing data in silos. Compare </a:t>
            </a:r>
            <a:r>
              <a:rPr sz="1076" b="1">
                <a:solidFill>
                  <a:srgbClr val="0071CE"/>
                </a:solidFill>
              </a:rPr>
              <a:t>velocity, incremental lift,</a:t>
            </a:r>
            <a:r>
              <a:rPr sz="1076" b="0">
                <a:solidFill>
                  <a:srgbClr val="333333"/>
                </a:solidFill>
              </a:rPr>
              <a:t> and </a:t>
            </a:r>
            <a:r>
              <a:rPr sz="1076" b="1">
                <a:solidFill>
                  <a:srgbClr val="0071CE"/>
                </a:solidFill>
              </a:rPr>
              <a:t>category level data</a:t>
            </a:r>
            <a:r>
              <a:rPr sz="1076" b="0">
                <a:solidFill>
                  <a:srgbClr val="333333"/>
                </a:solidFill>
              </a:rPr>
              <a:t> to see the bigger picture.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5105400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179" y="527685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5442502"/>
            <a:ext cx="266693" cy="14494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57288" y="5276850"/>
            <a:ext cx="53814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71CE"/>
                </a:solidFill>
              </a:rPr>
              <a:t>Look for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288" y="5619750"/>
            <a:ext cx="53814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Use historical data to </a:t>
            </a:r>
            <a:r>
              <a:rPr sz="1076" b="1">
                <a:solidFill>
                  <a:srgbClr val="0071CE"/>
                </a:solidFill>
              </a:rPr>
              <a:t>forecast demand</a:t>
            </a:r>
            <a:r>
              <a:rPr sz="1076" b="0">
                <a:solidFill>
                  <a:srgbClr val="333333"/>
                </a:solidFill>
              </a:rPr>
              <a:t>, optimize inventory, and identify operational improvements across the supply chain.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6429375"/>
            <a:ext cx="6343491" cy="1133475"/>
          </a:xfrm>
          <a:prstGeom prst="roundRect">
            <a:avLst>
              <a:gd name="adj" fmla="val 134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179" y="660082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6714296"/>
            <a:ext cx="266693" cy="24930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57288" y="6600825"/>
            <a:ext cx="538149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71CE"/>
                </a:solidFill>
              </a:rPr>
              <a:t>Use Offline and Online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57288" y="6943725"/>
            <a:ext cx="5381490" cy="4476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</a:rPr>
              <a:t> Integrate data from </a:t>
            </a:r>
            <a:r>
              <a:rPr sz="1076" b="1">
                <a:solidFill>
                  <a:srgbClr val="0071CE"/>
                </a:solidFill>
              </a:rPr>
              <a:t>multiple touchpoints</a:t>
            </a:r>
            <a:r>
              <a:rPr sz="1076" b="0">
                <a:solidFill>
                  <a:srgbClr val="333333"/>
                </a:solidFill>
              </a:rPr>
              <a:t> to create a unified view of the customer journey and understand purchase motivations.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5967" y="2581275"/>
            <a:ext cx="4228994" cy="3209925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86462" y="5934075"/>
            <a:ext cx="38480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975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</a:rPr>
              <a:t>Retail analytics dashboard showing key performance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Implementation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7676958" cy="3829050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46777"/>
            <a:ext cx="266693" cy="14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961" y="1466849"/>
            <a:ext cx="200972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SQL Query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047874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Use </a:t>
            </a:r>
            <a:r>
              <a:rPr sz="1196" b="1">
                <a:solidFill>
                  <a:srgbClr val="0071CE"/>
                </a:solidFill>
              </a:rPr>
              <a:t>JOINs</a:t>
            </a:r>
            <a:r>
              <a:rPr sz="1196" b="0">
                <a:solidFill>
                  <a:srgbClr val="333333"/>
                </a:solidFill>
              </a:rPr>
              <a:t> for related data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0618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2409825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Apply </a:t>
            </a:r>
            <a:r>
              <a:rPr sz="1196" b="1">
                <a:solidFill>
                  <a:srgbClr val="0071CE"/>
                </a:solidFill>
              </a:rPr>
              <a:t>GROUP BY</a:t>
            </a:r>
            <a:r>
              <a:rPr sz="1196" b="0">
                <a:solidFill>
                  <a:srgbClr val="333333"/>
                </a:solidFill>
              </a:rPr>
              <a:t> with aggregate functions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4238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52" y="2771775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Create </a:t>
            </a:r>
            <a:r>
              <a:rPr sz="1196" b="1">
                <a:solidFill>
                  <a:srgbClr val="0071CE"/>
                </a:solidFill>
              </a:rPr>
              <a:t>CTEs</a:t>
            </a:r>
            <a:r>
              <a:rPr sz="1196" b="0">
                <a:solidFill>
                  <a:srgbClr val="333333"/>
                </a:solidFill>
              </a:rPr>
              <a:t> for complex queries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78578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52" y="3133724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Use </a:t>
            </a:r>
            <a:r>
              <a:rPr sz="1196" b="1">
                <a:solidFill>
                  <a:srgbClr val="0071CE"/>
                </a:solidFill>
              </a:rPr>
              <a:t>window functions</a:t>
            </a:r>
            <a:r>
              <a:rPr sz="1196" b="0">
                <a:solidFill>
                  <a:srgbClr val="333333"/>
                </a:solidFill>
              </a:rPr>
              <a:t> for rankings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3147732"/>
            <a:ext cx="190495" cy="1624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4852" y="4267199"/>
            <a:ext cx="7200719" cy="37147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785155" y="4386896"/>
            <a:ext cx="371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852" y="4267199"/>
            <a:ext cx="720071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650"/>
              </a:spcBef>
              <a:spcAft>
                <a:spcPts val="650"/>
              </a:spcAft>
            </a:pPr>
            <a:r>
              <a:rPr sz="956" b="0">
                <a:solidFill>
                  <a:srgbClr val="333333"/>
                </a:solidFill>
              </a:rPr>
              <a:t>SELECT product_line, SUM(total) AS revenue FROM sales GROUP BY product_line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81810" y="1143000"/>
            <a:ext cx="2943151" cy="3829050"/>
          </a:xfrm>
          <a:prstGeom prst="roundRect">
            <a:avLst>
              <a:gd name="adj" fmla="val 51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19929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24701" y="1535181"/>
            <a:ext cx="266693" cy="16813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39039" y="1466849"/>
            <a:ext cx="175255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Data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9929" y="2047874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Bar charts</a:t>
            </a:r>
            <a:r>
              <a:rPr sz="1196" b="0">
                <a:solidFill>
                  <a:srgbClr val="333333"/>
                </a:solidFill>
              </a:rPr>
              <a:t> for product comparisons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2061882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819929" y="2657475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Line charts</a:t>
            </a:r>
            <a:r>
              <a:rPr sz="1196" b="0">
                <a:solidFill>
                  <a:srgbClr val="333333"/>
                </a:solidFill>
              </a:rPr>
              <a:t> for sales trends over time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26714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819929" y="3267075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Pie charts</a:t>
            </a:r>
            <a:r>
              <a:rPr sz="1196" b="0">
                <a:solidFill>
                  <a:srgbClr val="333333"/>
                </a:solidFill>
              </a:rPr>
              <a:t> for category distributions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3281082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19929" y="3876674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Heat maps</a:t>
            </a:r>
            <a:r>
              <a:rPr sz="1196" b="0">
                <a:solidFill>
                  <a:srgbClr val="333333"/>
                </a:solidFill>
              </a:rPr>
              <a:t> for time-based patterns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3890682"/>
            <a:ext cx="190495" cy="162485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666733" y="5210174"/>
            <a:ext cx="7676958" cy="3829050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04852" y="54483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9624" y="5582064"/>
            <a:ext cx="266693" cy="20872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523961" y="5543550"/>
            <a:ext cx="197162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Analysis Techniques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4852" y="6115050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Cohort analysis</a:t>
            </a:r>
            <a:r>
              <a:rPr sz="1196" b="0">
                <a:solidFill>
                  <a:srgbClr val="333333"/>
                </a:solidFill>
              </a:rPr>
              <a:t> for customer segments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61290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04852" y="6477000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Time series</a:t>
            </a:r>
            <a:r>
              <a:rPr sz="1196" b="0">
                <a:solidFill>
                  <a:srgbClr val="333333"/>
                </a:solidFill>
              </a:rPr>
              <a:t> for seasonal patterns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64910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04852" y="6838949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Correlation</a:t>
            </a:r>
            <a:r>
              <a:rPr sz="1196" b="0">
                <a:solidFill>
                  <a:srgbClr val="333333"/>
                </a:solidFill>
              </a:rPr>
              <a:t> between variables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68529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04852" y="7200900"/>
            <a:ext cx="7200719" cy="24764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ABC analysis</a:t>
            </a:r>
            <a:r>
              <a:rPr sz="1196" b="0">
                <a:solidFill>
                  <a:srgbClr val="333333"/>
                </a:solidFill>
              </a:rPr>
              <a:t> for product categorization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7214907"/>
            <a:ext cx="190495" cy="16248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581810" y="5210174"/>
            <a:ext cx="2943151" cy="3829050"/>
          </a:xfrm>
          <a:prstGeom prst="roundRect">
            <a:avLst>
              <a:gd name="adj" fmla="val 51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819929" y="5448300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24701" y="5573367"/>
            <a:ext cx="266693" cy="22611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439039" y="5543550"/>
            <a:ext cx="17335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Reporting Format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19929" y="6115050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Executive summary</a:t>
            </a:r>
            <a:r>
              <a:rPr sz="1196" b="0">
                <a:solidFill>
                  <a:srgbClr val="333333"/>
                </a:solidFill>
              </a:rPr>
              <a:t> with key findings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6129057"/>
            <a:ext cx="190495" cy="16248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819929" y="6724649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Branch-specific</a:t>
            </a:r>
            <a:r>
              <a:rPr sz="1196" b="0">
                <a:solidFill>
                  <a:srgbClr val="333333"/>
                </a:solidFill>
              </a:rPr>
              <a:t> performance reports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6738657"/>
            <a:ext cx="190495" cy="16248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819929" y="7334249"/>
            <a:ext cx="2466913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Product line</a:t>
            </a:r>
            <a:r>
              <a:rPr sz="1196" b="0">
                <a:solidFill>
                  <a:srgbClr val="333333"/>
                </a:solidFill>
              </a:rPr>
              <a:t> performance dashboards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734825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819929" y="7943850"/>
            <a:ext cx="2466913" cy="742950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Actionable recommendations</a:t>
            </a:r>
            <a:r>
              <a:rPr sz="1196" b="0">
                <a:solidFill>
                  <a:srgbClr val="333333"/>
                </a:solidFill>
              </a:rPr>
              <a:t> based on insights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819929" y="7957857"/>
            <a:ext cx="190495" cy="162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Expected Outcomes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57488" cy="377190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4852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519237"/>
            <a:ext cx="266693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3961" y="1466849"/>
            <a:ext cx="152396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Insights to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2047874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Top-performing</a:t>
            </a:r>
            <a:r>
              <a:rPr sz="1196" b="0">
                <a:solidFill>
                  <a:srgbClr val="333333"/>
                </a:solidFill>
              </a:rPr>
              <a:t> branches and product lines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095499"/>
            <a:ext cx="190495" cy="952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52" y="2686050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Peak sales</a:t>
            </a:r>
            <a:r>
              <a:rPr sz="1196" b="0">
                <a:solidFill>
                  <a:srgbClr val="333333"/>
                </a:solidFill>
              </a:rPr>
              <a:t> periods by time, day, and month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2733674"/>
            <a:ext cx="190495" cy="952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04852" y="3324225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Customer behavior</a:t>
            </a:r>
            <a:r>
              <a:rPr sz="1196" b="0">
                <a:solidFill>
                  <a:srgbClr val="333333"/>
                </a:solidFill>
              </a:rPr>
              <a:t> patterns and preferences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3371850"/>
            <a:ext cx="190495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852" y="3962399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Revenue drivers</a:t>
            </a:r>
            <a:r>
              <a:rPr sz="1196" b="0">
                <a:solidFill>
                  <a:srgbClr val="333333"/>
                </a:solidFill>
              </a:rPr>
              <a:t> and profit margins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04852" y="4010024"/>
            <a:ext cx="190495" cy="9524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362340" y="1143000"/>
            <a:ext cx="3457488" cy="377190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00459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05232" y="1514889"/>
            <a:ext cx="266693" cy="2087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9569" y="1466849"/>
            <a:ext cx="184780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Business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459" y="2047874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Inventory optimization</a:t>
            </a:r>
            <a:r>
              <a:rPr sz="1196" b="0">
                <a:solidFill>
                  <a:srgbClr val="333333"/>
                </a:solidFill>
              </a:rPr>
              <a:t> for each branch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2095499"/>
            <a:ext cx="190495" cy="952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600459" y="2686050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Targeted promotions</a:t>
            </a:r>
            <a:r>
              <a:rPr sz="1196" b="0">
                <a:solidFill>
                  <a:srgbClr val="333333"/>
                </a:solidFill>
              </a:rPr>
              <a:t> for specific product lines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2733674"/>
            <a:ext cx="190495" cy="952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0459" y="3324225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Staff scheduling</a:t>
            </a:r>
            <a:r>
              <a:rPr sz="1196" b="0">
                <a:solidFill>
                  <a:srgbClr val="333333"/>
                </a:solidFill>
              </a:rPr>
              <a:t> based on peak periods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3371850"/>
            <a:ext cx="190495" cy="952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600459" y="3962399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Marketing strategies</a:t>
            </a:r>
            <a:r>
              <a:rPr sz="1196" b="0">
                <a:solidFill>
                  <a:srgbClr val="333333"/>
                </a:solidFill>
              </a:rPr>
              <a:t> for customer segments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00459" y="4010024"/>
            <a:ext cx="190495" cy="95249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67473" y="1143000"/>
            <a:ext cx="3457488" cy="377190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05592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10364" y="1535181"/>
            <a:ext cx="266693" cy="16813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924701" y="1466849"/>
            <a:ext cx="103819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71CE"/>
                </a:solidFill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5592" y="2047874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Implement</a:t>
            </a:r>
            <a:r>
              <a:rPr sz="1196" b="0">
                <a:solidFill>
                  <a:srgbClr val="333333"/>
                </a:solidFill>
              </a:rPr>
              <a:t> SQL queries for analysis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05592" y="2095499"/>
            <a:ext cx="190495" cy="952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05592" y="2686050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Create dashboards</a:t>
            </a:r>
            <a:r>
              <a:rPr sz="1196" b="0">
                <a:solidFill>
                  <a:srgbClr val="333333"/>
                </a:solidFill>
              </a:rPr>
              <a:t> for visualization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05592" y="2733674"/>
            <a:ext cx="190495" cy="952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305592" y="3324225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Validate findings</a:t>
            </a:r>
            <a:r>
              <a:rPr sz="1196" b="0">
                <a:solidFill>
                  <a:srgbClr val="333333"/>
                </a:solidFill>
              </a:rPr>
              <a:t> with stakeholders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05592" y="3371850"/>
            <a:ext cx="190495" cy="9524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05592" y="3962399"/>
            <a:ext cx="2981250" cy="495299"/>
          </a:xfrm>
          <a:prstGeom prst="rect">
            <a:avLst/>
          </a:prstGeom>
          <a:noFill/>
        </p:spPr>
        <p:txBody>
          <a:bodyPr wrap="squar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956" b="0">
                <a:solidFill>
                  <a:srgbClr val="333333"/>
                </a:solidFill>
              </a:rPr>
              <a:t> </a:t>
            </a:r>
            <a:r>
              <a:rPr sz="1104"/>
              <a:t>  </a:t>
            </a:r>
            <a:r>
              <a:rPr sz="956" b="0">
                <a:solidFill>
                  <a:srgbClr val="333333"/>
                </a:solidFill>
              </a:rPr>
              <a:t> </a:t>
            </a:r>
            <a:r>
              <a:rPr sz="1196" b="0">
                <a:solidFill>
                  <a:srgbClr val="333333"/>
                </a:solidFill>
              </a:rPr>
              <a:t> </a:t>
            </a:r>
            <a:r>
              <a:rPr sz="1196" b="1">
                <a:solidFill>
                  <a:srgbClr val="0071CE"/>
                </a:solidFill>
              </a:rPr>
              <a:t>Develop action plan</a:t>
            </a:r>
            <a:r>
              <a:rPr sz="1196" b="0">
                <a:solidFill>
                  <a:srgbClr val="333333"/>
                </a:solidFill>
              </a:rPr>
              <a:t> based on insights </a:t>
            </a:r>
            <a:r>
              <a:rPr sz="956" b="0">
                <a:solidFill>
                  <a:srgbClr val="333333"/>
                </a:solidFill>
              </a:rPr>
              <a:t>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05592" y="4010024"/>
            <a:ext cx="190495" cy="95249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5153024"/>
            <a:ext cx="10858228" cy="1419225"/>
          </a:xfrm>
          <a:prstGeom prst="roundRect">
            <a:avLst>
              <a:gd name="adj" fmla="val 107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4852" y="5581649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7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28674" y="5719551"/>
            <a:ext cx="333366" cy="28617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714457" y="5391150"/>
            <a:ext cx="9572385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554" b="1">
                <a:solidFill>
                  <a:srgbClr val="0071CE"/>
                </a:solidFill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14457" y="5800725"/>
            <a:ext cx="95723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33333"/>
                </a:solidFill>
              </a:rPr>
              <a:t> This Walmart sales data analysis project will provide </a:t>
            </a:r>
            <a:r>
              <a:rPr sz="1196" b="1">
                <a:solidFill>
                  <a:srgbClr val="0071CE"/>
                </a:solidFill>
              </a:rPr>
              <a:t>actionable insights</a:t>
            </a:r>
            <a:r>
              <a:rPr sz="1196" b="0">
                <a:solidFill>
                  <a:srgbClr val="333333"/>
                </a:solidFill>
              </a:rPr>
              <a:t> to optimize sales strategies, improve customer experience, and drive revenue growth across all three branches through </a:t>
            </a:r>
            <a:r>
              <a:rPr sz="1196" b="1">
                <a:solidFill>
                  <a:srgbClr val="0071CE"/>
                </a:solidFill>
              </a:rPr>
              <a:t>data-driven decision making</a:t>
            </a:r>
            <a:r>
              <a:rPr sz="1196" b="0">
                <a:solidFill>
                  <a:srgbClr val="333333"/>
                </a:solidFill>
              </a:rPr>
              <a:t>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